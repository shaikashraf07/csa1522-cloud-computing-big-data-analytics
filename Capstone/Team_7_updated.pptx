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1"/>
  </p:notesMasterIdLst>
  <p:sldIdLst>
    <p:sldId id="256" r:id="rId2"/>
    <p:sldId id="259" r:id="rId3"/>
    <p:sldId id="262" r:id="rId4"/>
    <p:sldId id="263" r:id="rId5"/>
    <p:sldId id="261" r:id="rId6"/>
    <p:sldId id="296" r:id="rId7"/>
    <p:sldId id="264" r:id="rId8"/>
    <p:sldId id="284" r:id="rId9"/>
    <p:sldId id="278" r:id="rId10"/>
    <p:sldId id="281" r:id="rId11"/>
    <p:sldId id="291" r:id="rId12"/>
    <p:sldId id="282" r:id="rId13"/>
    <p:sldId id="292" r:id="rId14"/>
    <p:sldId id="283" r:id="rId15"/>
    <p:sldId id="293" r:id="rId16"/>
    <p:sldId id="294" r:id="rId17"/>
    <p:sldId id="295" r:id="rId18"/>
    <p:sldId id="285" r:id="rId19"/>
    <p:sldId id="277"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DF2354A-A12C-4E9B-BB12-B8800B2731A6}"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t>‹#›</a:t>
            </a:fld>
            <a:endPar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0B1B93FA-183A-732C-6848-3EA0E364B6FE}"/>
            </a:ext>
          </a:extLst>
        </p:cNvPr>
        <p:cNvGrpSpPr/>
        <p:nvPr/>
      </p:nvGrpSpPr>
      <p:grpSpPr>
        <a:xfrm>
          <a:off x="0" y="0"/>
          <a:ext cx="0" cy="0"/>
          <a:chOff x="0" y="0"/>
          <a:chExt cx="0" cy="0"/>
        </a:xfrm>
      </p:grpSpPr>
      <p:sp>
        <p:nvSpPr>
          <p:cNvPr id="165" name="Google Shape;165;p9:notes">
            <a:extLst>
              <a:ext uri="{FF2B5EF4-FFF2-40B4-BE49-F238E27FC236}">
                <a16:creationId xmlns:a16="http://schemas.microsoft.com/office/drawing/2014/main" id="{E234A594-D6D6-A77B-38ED-A960426757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9:notes">
            <a:extLst>
              <a:ext uri="{FF2B5EF4-FFF2-40B4-BE49-F238E27FC236}">
                <a16:creationId xmlns:a16="http://schemas.microsoft.com/office/drawing/2014/main" id="{1BB69887-3DC9-F9A3-A8DB-B643C339FF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610424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411AC46D-F764-B0EC-1653-F866032C5CC1}"/>
            </a:ext>
          </a:extLst>
        </p:cNvPr>
        <p:cNvGrpSpPr/>
        <p:nvPr/>
      </p:nvGrpSpPr>
      <p:grpSpPr>
        <a:xfrm>
          <a:off x="0" y="0"/>
          <a:ext cx="0" cy="0"/>
          <a:chOff x="0" y="0"/>
          <a:chExt cx="0" cy="0"/>
        </a:xfrm>
      </p:grpSpPr>
      <p:sp>
        <p:nvSpPr>
          <p:cNvPr id="165" name="Google Shape;165;p9:notes">
            <a:extLst>
              <a:ext uri="{FF2B5EF4-FFF2-40B4-BE49-F238E27FC236}">
                <a16:creationId xmlns:a16="http://schemas.microsoft.com/office/drawing/2014/main" id="{870620CC-74A9-39E4-5BC2-B4D678D3AE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9:notes">
            <a:extLst>
              <a:ext uri="{FF2B5EF4-FFF2-40B4-BE49-F238E27FC236}">
                <a16:creationId xmlns:a16="http://schemas.microsoft.com/office/drawing/2014/main" id="{94DAD52A-A9F5-968B-DA0A-454E30FD8B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9217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55AEF731-D47A-CD0D-6093-5581F9EAFCAD}"/>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A30874CF-E7A6-0984-95DF-33FD3B264D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5008F375-EE7E-9973-FFD1-51A1CE7C52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98409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00C85DF1-C14E-B8EF-0337-8F94731DB9F3}"/>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12452344-450C-916D-D552-88191F8419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0C22EE8C-ECB8-670B-2D3D-074377CCA8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00662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41C0D64B-C8DB-CBA3-34F5-753BA9064DE8}"/>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700E9199-5795-C13C-EF85-86EB996A00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D67AAC1B-799D-250E-0AF8-48C255003D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557228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A4DD3BE6-1C8A-A7B5-F83D-518F1E2EE228}"/>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0C41D339-50D5-D00E-F108-B2E88EA787F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C832258A-D8C3-7C00-1592-7327747859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72518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F896927A-816E-E9F4-D692-77524406B9C8}"/>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2594A50F-FB64-74AF-67DA-C5F093AF1A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002367E1-65BA-B375-F7A3-5C12CE8D4A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536522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1434063B-EB86-4ED0-BEEC-03D5D6E7CDBE}"/>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2DF0D069-E6CB-E8AC-3DD8-E0BDA36A96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CCAF155B-AB57-E564-7F7C-04950E653D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0346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14913FC2-DAD1-ADA0-72A6-F36CCE750287}"/>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7874B0D9-18A0-A2EB-1483-9319ADF528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7D2DE0A3-84D1-6D55-E362-7F15B98424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54515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0D700818-46DF-D53F-2236-05B7DCEC3DD9}"/>
            </a:ext>
          </a:extLst>
        </p:cNvPr>
        <p:cNvGrpSpPr/>
        <p:nvPr/>
      </p:nvGrpSpPr>
      <p:grpSpPr>
        <a:xfrm>
          <a:off x="0" y="0"/>
          <a:ext cx="0" cy="0"/>
          <a:chOff x="0" y="0"/>
          <a:chExt cx="0" cy="0"/>
        </a:xfrm>
      </p:grpSpPr>
      <p:sp>
        <p:nvSpPr>
          <p:cNvPr id="224" name="Google Shape;224;p15:notes">
            <a:extLst>
              <a:ext uri="{FF2B5EF4-FFF2-40B4-BE49-F238E27FC236}">
                <a16:creationId xmlns:a16="http://schemas.microsoft.com/office/drawing/2014/main" id="{39A76E0D-CCC9-10DB-82AC-E2780A68D6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a:extLst>
              <a:ext uri="{FF2B5EF4-FFF2-40B4-BE49-F238E27FC236}">
                <a16:creationId xmlns:a16="http://schemas.microsoft.com/office/drawing/2014/main" id="{E900DF8F-D7C9-C494-5E22-49027BBE89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34847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A2707F2C-8A58-421B-B9EF-01D5F4DA5A2C}" type="datetime1">
              <a:rPr lang="en-US" smtClean="0"/>
              <a:t>8/31/2026</a:t>
            </a:fld>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14C80D2E-1070-4F82-9041-D033691830AD}" type="datetime1">
              <a:rPr lang="en-US" smtClean="0"/>
              <a:t>8/31/2026</a:t>
            </a:fld>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D740F7ED-993C-4061-9815-4EA8D17205FE}" type="datetime1">
              <a:rPr lang="en-US" smtClean="0"/>
              <a:t>8/31/2026</a:t>
            </a:fld>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rot="5400000">
            <a:off x="3920332" y="-1256507"/>
            <a:ext cx="4351337"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E9BA38B-A57F-4D21-8DF9-F641B6F7925D}" type="datetime1">
              <a:rPr lang="en-US" smtClean="0"/>
              <a:t>8/31/2026</a:t>
            </a:fld>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1" name="Google Shape;41;p6"/>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42" name="Google Shape;42;p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3" name="Google Shape;4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E08982E2-9B30-4ED7-A673-50ADE08CBA67}" type="datetime1">
              <a:rPr lang="en-US" smtClean="0"/>
              <a:t>8/31/2026</a:t>
            </a:fld>
            <a:endParaRPr/>
          </a:p>
        </p:txBody>
      </p:sp>
      <p:sp>
        <p:nvSpPr>
          <p:cNvPr id="44" name="Google Shape;4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A57655D2-1E48-4DD2-811C-90B2C41EB5EA}" type="datetime1">
              <a:rPr lang="en-US" smtClean="0"/>
              <a:t>8/31/2026</a:t>
            </a:fld>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6DD46340-0D9C-403E-80B3-CEEA6A306C64}" type="datetime1">
              <a:rPr lang="en-US" smtClean="0"/>
              <a:t>8/31/2026</a:t>
            </a:fld>
            <a:endParaRPr/>
          </a:p>
        </p:txBody>
      </p:sp>
      <p:sp>
        <p:nvSpPr>
          <p:cNvPr id="55" name="Google Shape;5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9" name="Google Shape;5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1C6AAFB1-9699-40EB-9EE7-0AD11C505C42}" type="datetime1">
              <a:rPr lang="en-US" smtClean="0"/>
              <a:t>8/31/2026</a:t>
            </a:fld>
            <a:endParaRPr/>
          </a:p>
        </p:txBody>
      </p:sp>
      <p:sp>
        <p:nvSpPr>
          <p:cNvPr id="60" name="Google Shape;6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5" name="Google Shape;65;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7" name="Google Shape;67;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E7437A53-2EAD-4FA6-8B44-7880E195EE7E}" type="datetime1">
              <a:rPr lang="en-US" smtClean="0"/>
              <a:t>8/31/2026</a:t>
            </a:fld>
            <a:endParaRPr/>
          </a:p>
        </p:txBody>
      </p:sp>
      <p:sp>
        <p:nvSpPr>
          <p:cNvPr id="69" name="Google Shape;6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3" name="Google Shape;73;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F7797C7-BEEA-4D0F-AF6A-304A68D6E830}" type="datetime1">
              <a:rPr lang="en-US" smtClean="0"/>
              <a:t>8/31/2026</a:t>
            </a:fld>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832FA42-343C-48C4-BB3E-6F1419EDED67}" type="datetime1">
              <a:rPr lang="en-US" smtClean="0"/>
              <a:t>8/31/2026</a:t>
            </a:fld>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1"/>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fld id="{F2BA3508-08BC-4450-A2B4-B28EBC3E9F37}" type="datetime1">
              <a:rPr lang="en-US" smtClean="0"/>
              <a:t>8/31/2026</a:t>
            </a:fld>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3.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hyperlink" Target="https://dx.doi.org/10.2139/ssrn.4991394"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817562" y="2395538"/>
            <a:ext cx="10431462" cy="1033462"/>
          </a:xfrm>
          <a:prstGeom prst="rect">
            <a:avLst/>
          </a:prstGeom>
          <a:noFill/>
          <a:ln>
            <a:noFill/>
          </a:ln>
        </p:spPr>
        <p:txBody>
          <a:bodyPr spcFirstLastPara="1" wrap="square" lIns="91425" tIns="45700" rIns="91425" bIns="45700" anchor="b" anchorCtr="0">
            <a:noAutofit/>
          </a:bodyPr>
          <a:lstStyle/>
          <a:p>
            <a:pPr lvl="0">
              <a:buClr>
                <a:schemeClr val="dk1"/>
              </a:buClr>
              <a:buSzPts val="8000"/>
            </a:pPr>
            <a:r>
              <a:rPr lang="en-IN" sz="3600" dirty="0">
                <a:solidFill>
                  <a:schemeClr val="accent1">
                    <a:lumMod val="50000"/>
                  </a:schemeClr>
                </a:solidFill>
                <a:latin typeface="Times New Roman" panose="02020603050405020304" pitchFamily="18" charset="0"/>
                <a:cs typeface="Times New Roman" panose="02020603050405020304" pitchFamily="18" charset="0"/>
              </a:rPr>
              <a:t>Hadoop-Based Distributed Log Analysis System using MapReduce</a:t>
            </a:r>
            <a:endParaRPr lang="en-US" altLang="en-US" sz="3400" b="0" i="0" u="none" dirty="0">
              <a:solidFill>
                <a:schemeClr val="accent1">
                  <a:lumMod val="5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89" name="Google Shape;89;p13"/>
          <p:cNvSpPr txBox="1">
            <a:spLocks noGrp="1"/>
          </p:cNvSpPr>
          <p:nvPr>
            <p:ph type="subTitle" idx="1"/>
          </p:nvPr>
        </p:nvSpPr>
        <p:spPr>
          <a:xfrm>
            <a:off x="1658937" y="3804285"/>
            <a:ext cx="9144000" cy="2020887"/>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400"/>
              <a:buNone/>
            </a:pPr>
            <a:r>
              <a:rPr lang="en-US" sz="1600" b="1" dirty="0">
                <a:latin typeface="Times New Roman" panose="02020603050405020304" pitchFamily="18" charset="0"/>
                <a:cs typeface="Times New Roman" panose="02020603050405020304" pitchFamily="18" charset="0"/>
                <a:sym typeface="+mn-ea"/>
              </a:rPr>
              <a:t>192324088-Shaik Ashraf</a:t>
            </a:r>
            <a:endParaRPr lang="en-US" sz="1600" b="1" dirty="0">
              <a:latin typeface="Times New Roman" panose="02020603050405020304" pitchFamily="18" charset="0"/>
              <a:cs typeface="Times New Roman" panose="02020603050405020304" pitchFamily="18" charset="0"/>
            </a:endParaRPr>
          </a:p>
          <a:p>
            <a:pPr marL="0" lvl="0" indent="0" algn="ctr" rtl="0">
              <a:lnSpc>
                <a:spcPct val="90000"/>
              </a:lnSpc>
              <a:spcBef>
                <a:spcPts val="0"/>
              </a:spcBef>
              <a:spcAft>
                <a:spcPts val="0"/>
              </a:spcAft>
              <a:buClr>
                <a:schemeClr val="dk1"/>
              </a:buClr>
              <a:buSzPts val="2400"/>
              <a:buNone/>
            </a:pPr>
            <a:r>
              <a:rPr lang="en-US" sz="1600" b="1" dirty="0">
                <a:latin typeface="Times New Roman" panose="02020603050405020304" pitchFamily="18" charset="0"/>
                <a:cs typeface="Times New Roman" panose="02020603050405020304" pitchFamily="18" charset="0"/>
                <a:sym typeface="+mn-ea"/>
              </a:rPr>
              <a:t>192373002- Akkisetty Prashanth</a:t>
            </a:r>
          </a:p>
          <a:p>
            <a:pPr marL="0" lvl="0" indent="0" algn="ctr" rtl="0">
              <a:lnSpc>
                <a:spcPct val="90000"/>
              </a:lnSpc>
              <a:spcBef>
                <a:spcPts val="0"/>
              </a:spcBef>
              <a:spcAft>
                <a:spcPts val="0"/>
              </a:spcAft>
              <a:buClr>
                <a:schemeClr val="dk1"/>
              </a:buClr>
              <a:buSzPts val="2400"/>
              <a:buNone/>
            </a:pPr>
            <a:r>
              <a:rPr lang="en-US" sz="1600" b="1" dirty="0">
                <a:latin typeface="Times New Roman" panose="02020603050405020304" pitchFamily="18" charset="0"/>
                <a:cs typeface="Times New Roman" panose="02020603050405020304" pitchFamily="18" charset="0"/>
                <a:sym typeface="+mn-ea"/>
              </a:rPr>
              <a:t>192424314- Jani Dilip</a:t>
            </a:r>
          </a:p>
          <a:p>
            <a:pPr marL="0" lvl="0" indent="0" algn="ctr" rtl="0">
              <a:lnSpc>
                <a:spcPct val="90000"/>
              </a:lnSpc>
              <a:spcBef>
                <a:spcPts val="0"/>
              </a:spcBef>
              <a:spcAft>
                <a:spcPts val="0"/>
              </a:spcAft>
              <a:buClr>
                <a:schemeClr val="dk1"/>
              </a:buClr>
              <a:buSzPts val="2400"/>
              <a:buNone/>
            </a:pPr>
            <a:endParaRPr sz="1600" b="1" dirty="0">
              <a:latin typeface="Times New Roman" panose="02020603050405020304" pitchFamily="18" charset="0"/>
              <a:cs typeface="Times New Roman" panose="02020603050405020304" pitchFamily="18" charset="0"/>
            </a:endParaRPr>
          </a:p>
          <a:p>
            <a:pPr marL="0" lvl="0" indent="0" algn="ctr" rtl="0">
              <a:lnSpc>
                <a:spcPct val="80000"/>
              </a:lnSpc>
              <a:spcBef>
                <a:spcPts val="1000"/>
              </a:spcBef>
              <a:spcAft>
                <a:spcPts val="0"/>
              </a:spcAft>
              <a:buClr>
                <a:schemeClr val="dk1"/>
              </a:buClr>
              <a:buSzPts val="2400"/>
              <a:buNone/>
            </a:pPr>
            <a:r>
              <a:rPr lang="en-IN" sz="1600" b="1" dirty="0">
                <a:latin typeface="Times New Roman" panose="02020603050405020304"/>
                <a:cs typeface="Times New Roman" panose="02020603050405020304"/>
                <a:sym typeface="Times New Roman" panose="02020603050405020304"/>
              </a:rPr>
              <a:t>CSA1522- Cloud Computing &amp; Big Data Analytics</a:t>
            </a:r>
            <a:endParaRPr sz="1600" dirty="0"/>
          </a:p>
          <a:p>
            <a:pPr marL="0" indent="0">
              <a:lnSpc>
                <a:spcPct val="80000"/>
              </a:lnSpc>
            </a:pPr>
            <a:r>
              <a:rPr lang="en-US" sz="1600" b="1" dirty="0">
                <a:latin typeface="Times New Roman" panose="02020603050405020304"/>
                <a:ea typeface="Times New Roman" panose="02020603050405020304"/>
                <a:cs typeface="Times New Roman" panose="02020603050405020304"/>
                <a:sym typeface="Times New Roman" panose="02020603050405020304"/>
              </a:rPr>
              <a:t>Course Faculty : </a:t>
            </a:r>
            <a:r>
              <a:rPr lang="en-IN" sz="1600" dirty="0">
                <a:latin typeface="Times New Roman" panose="02020603050405020304" pitchFamily="18" charset="0"/>
                <a:cs typeface="Times New Roman" panose="02020603050405020304" pitchFamily="18" charset="0"/>
                <a:sym typeface="+mn-ea"/>
              </a:rPr>
              <a:t>Dr. Rajaram</a:t>
            </a:r>
            <a:endParaRPr lang="en-US" sz="1600" i="0" u="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ctr" rtl="0">
              <a:lnSpc>
                <a:spcPct val="80000"/>
              </a:lnSpc>
              <a:spcBef>
                <a:spcPts val="1000"/>
              </a:spcBef>
              <a:spcAft>
                <a:spcPts val="0"/>
              </a:spcAft>
              <a:buClr>
                <a:schemeClr val="dk1"/>
              </a:buClr>
              <a:buSzPts val="2400"/>
              <a:buNone/>
            </a:pPr>
            <a:r>
              <a:rPr lang="en-US" sz="1600" b="1" dirty="0">
                <a:latin typeface="Times New Roman" panose="02020603050405020304"/>
                <a:ea typeface="Times New Roman" panose="02020603050405020304"/>
                <a:cs typeface="Times New Roman" panose="02020603050405020304"/>
                <a:sym typeface="Times New Roman" panose="02020603050405020304"/>
              </a:rPr>
              <a:t>SIMATS Engineering, SIMATS</a:t>
            </a:r>
            <a:endParaRPr lang="en-US" sz="1600" b="1"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0" name="Google Shape;90;p13" descr="C:\Users\ADMIN\AppData\Local\Microsoft\Windows\INetCache\Content.MSO\C29DB0A6.tmp"/>
          <p:cNvPicPr preferRelativeResize="0"/>
          <p:nvPr/>
        </p:nvPicPr>
        <p:blipFill rotWithShape="1">
          <a:blip r:embed="rId3"/>
          <a:srcRect/>
          <a:stretch>
            <a:fillRect/>
          </a:stretch>
        </p:blipFill>
        <p:spPr>
          <a:xfrm>
            <a:off x="1211262" y="169862"/>
            <a:ext cx="10037762" cy="1030287"/>
          </a:xfrm>
          <a:prstGeom prst="rect">
            <a:avLst/>
          </a:prstGeom>
          <a:noFill/>
          <a:ln>
            <a:noFill/>
          </a:ln>
        </p:spPr>
      </p:pic>
      <p:sp>
        <p:nvSpPr>
          <p:cNvPr id="91" name="Google Shape;91;p13"/>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92" name="Google Shape;92;p13"/>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93" name="Google Shape;93;p13"/>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2" name="Date Placeholder 1">
            <a:extLst>
              <a:ext uri="{FF2B5EF4-FFF2-40B4-BE49-F238E27FC236}">
                <a16:creationId xmlns:a16="http://schemas.microsoft.com/office/drawing/2014/main" id="{8FE0444E-C13D-5C7F-976A-DB46A2ED7109}"/>
              </a:ext>
            </a:extLst>
          </p:cNvPr>
          <p:cNvSpPr>
            <a:spLocks noGrp="1"/>
          </p:cNvSpPr>
          <p:nvPr>
            <p:ph type="dt" idx="10"/>
          </p:nvPr>
        </p:nvSpPr>
        <p:spPr/>
        <p:txBody>
          <a:bodyPr/>
          <a:lstStyle/>
          <a:p>
            <a:fld id="{D88E7A54-A589-4A7C-B61F-20F7B4D0E11B}" type="datetime1">
              <a:rPr lang="en-US" smtClean="0"/>
              <a:t>8/31/2026</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790575" y="515322"/>
            <a:ext cx="10515600" cy="10255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sz="44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a:t>
            </a:r>
          </a:p>
        </p:txBody>
      </p:sp>
      <p:sp>
        <p:nvSpPr>
          <p:cNvPr id="119" name="Google Shape;119;p16"/>
          <p:cNvSpPr txBox="1">
            <a:spLocks noGrp="1"/>
          </p:cNvSpPr>
          <p:nvPr>
            <p:ph type="body" idx="1"/>
          </p:nvPr>
        </p:nvSpPr>
        <p:spPr>
          <a:xfrm>
            <a:off x="580154" y="1903769"/>
            <a:ext cx="11405317" cy="4753364"/>
          </a:xfrm>
          <a:prstGeom prst="rect">
            <a:avLst/>
          </a:prstGeom>
          <a:noFill/>
          <a:ln>
            <a:noFill/>
          </a:ln>
        </p:spPr>
        <p:txBody>
          <a:bodyPr spcFirstLastPara="1" wrap="square" lIns="91425" tIns="45700" rIns="91425" bIns="45700" anchor="t" anchorCtr="0">
            <a:noAutofit/>
          </a:bodyPr>
          <a:lstStyle/>
          <a:p>
            <a:pPr marL="114300" indent="0">
              <a:buNone/>
            </a:pPr>
            <a:r>
              <a:rPr lang="en-IN" sz="2400" dirty="0">
                <a:latin typeface="Times New Roman" panose="02020603050405020304" pitchFamily="18" charset="0"/>
                <a:cs typeface="Times New Roman" panose="02020603050405020304" pitchFamily="18" charset="0"/>
              </a:rPr>
              <a:t>A modern web application generates continuous log data — every request, error, login, and interaction gets recorded. As traffic grows, this data grows into the millions of lines per day, often spread across multiple servers. Manually reviewing or processing this volume of data with a single machine becomes slow and eventually impossible as scale increases.</a:t>
            </a:r>
          </a:p>
          <a:p>
            <a:pPr marL="114300" indent="0">
              <a:buNone/>
            </a:pPr>
            <a:r>
              <a:rPr lang="en-IN" sz="2400" dirty="0">
                <a:latin typeface="Times New Roman" panose="02020603050405020304" pitchFamily="18" charset="0"/>
                <a:cs typeface="Times New Roman" panose="02020603050405020304" pitchFamily="18" charset="0"/>
              </a:rPr>
              <a:t>This project builds a </a:t>
            </a:r>
            <a:r>
              <a:rPr lang="en-IN" sz="2400" b="1" dirty="0">
                <a:latin typeface="Times New Roman" panose="02020603050405020304" pitchFamily="18" charset="0"/>
                <a:cs typeface="Times New Roman" panose="02020603050405020304" pitchFamily="18" charset="0"/>
              </a:rPr>
              <a:t>Hadoop-based distributed log analysis system</a:t>
            </a:r>
            <a:r>
              <a:rPr lang="en-IN" sz="2400" dirty="0">
                <a:latin typeface="Times New Roman" panose="02020603050405020304" pitchFamily="18" charset="0"/>
                <a:cs typeface="Times New Roman" panose="02020603050405020304" pitchFamily="18" charset="0"/>
              </a:rPr>
              <a:t> that ingests raw log data, processes it in parallel using MapReduce, and presents the results through a visualization dashboard. It demonstrates how big data tools solve a problem that traditional, single-machine approaches cannot handle efficiently.</a:t>
            </a:r>
          </a:p>
        </p:txBody>
      </p:sp>
      <p:sp>
        <p:nvSpPr>
          <p:cNvPr id="122" name="Google Shape;122;p16"/>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123" name="Google Shape;123;p16"/>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2</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4" name="Image 6">
            <a:extLst>
              <a:ext uri="{FF2B5EF4-FFF2-40B4-BE49-F238E27FC236}">
                <a16:creationId xmlns:a16="http://schemas.microsoft.com/office/drawing/2014/main" id="{9BCB4B2D-2E32-6A38-8366-651564C210A4}"/>
              </a:ext>
            </a:extLst>
          </p:cNvPr>
          <p:cNvPicPr>
            <a:picLocks/>
          </p:cNvPicPr>
          <p:nvPr/>
        </p:nvPicPr>
        <p:blipFill>
          <a:blip r:embed="rId3" cstate="print"/>
          <a:stretch>
            <a:fillRect/>
          </a:stretch>
        </p:blipFill>
        <p:spPr>
          <a:xfrm>
            <a:off x="304800" y="152400"/>
            <a:ext cx="1371600" cy="1156127"/>
          </a:xfrm>
          <a:prstGeom prst="rect">
            <a:avLst/>
          </a:prstGeom>
        </p:spPr>
      </p:pic>
      <p:pic>
        <p:nvPicPr>
          <p:cNvPr id="6" name="Image 3">
            <a:extLst>
              <a:ext uri="{FF2B5EF4-FFF2-40B4-BE49-F238E27FC236}">
                <a16:creationId xmlns:a16="http://schemas.microsoft.com/office/drawing/2014/main" id="{F8310B7B-3A5F-378E-31F0-A07F76DD6C1B}"/>
              </a:ext>
            </a:extLst>
          </p:cNvPr>
          <p:cNvPicPr>
            <a:picLocks/>
          </p:cNvPicPr>
          <p:nvPr/>
        </p:nvPicPr>
        <p:blipFill>
          <a:blip r:embed="rId4" cstate="print"/>
          <a:stretch>
            <a:fillRect/>
          </a:stretch>
        </p:blipFill>
        <p:spPr>
          <a:xfrm>
            <a:off x="10715625" y="152400"/>
            <a:ext cx="1181100" cy="1110466"/>
          </a:xfrm>
          <a:prstGeom prst="rect">
            <a:avLst/>
          </a:prstGeom>
        </p:spPr>
      </p:pic>
      <p:sp>
        <p:nvSpPr>
          <p:cNvPr id="2" name="Date Placeholder 1">
            <a:extLst>
              <a:ext uri="{FF2B5EF4-FFF2-40B4-BE49-F238E27FC236}">
                <a16:creationId xmlns:a16="http://schemas.microsoft.com/office/drawing/2014/main" id="{7A51CE43-6FC3-91BF-9746-4F5ED7E16B83}"/>
              </a:ext>
            </a:extLst>
          </p:cNvPr>
          <p:cNvSpPr>
            <a:spLocks noGrp="1"/>
          </p:cNvSpPr>
          <p:nvPr>
            <p:ph type="dt" idx="10"/>
          </p:nvPr>
        </p:nvSpPr>
        <p:spPr/>
        <p:txBody>
          <a:bodyPr/>
          <a:lstStyle/>
          <a:p>
            <a:fld id="{2C5B6DFF-1C11-40BA-A388-F77346F301B3}" type="datetime1">
              <a:rPr lang="en-US" smtClean="0"/>
              <a:t>8/31/2026</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9"/>
          <p:cNvSpPr txBox="1">
            <a:spLocks noGrp="1"/>
          </p:cNvSpPr>
          <p:nvPr>
            <p:ph type="title"/>
          </p:nvPr>
        </p:nvSpPr>
        <p:spPr>
          <a:xfrm>
            <a:off x="990600" y="542141"/>
            <a:ext cx="10515600" cy="10255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sz="44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PROBLEM STATEMENT </a:t>
            </a:r>
          </a:p>
        </p:txBody>
      </p:sp>
      <p:sp>
        <p:nvSpPr>
          <p:cNvPr id="149" name="Google Shape;149;p19"/>
          <p:cNvSpPr txBox="1">
            <a:spLocks noGrp="1"/>
          </p:cNvSpPr>
          <p:nvPr>
            <p:ph type="body" idx="1"/>
          </p:nvPr>
        </p:nvSpPr>
        <p:spPr>
          <a:xfrm>
            <a:off x="838200" y="1700213"/>
            <a:ext cx="10515600" cy="4351337"/>
          </a:xfrm>
          <a:prstGeom prst="rect">
            <a:avLst/>
          </a:prstGeom>
          <a:noFill/>
          <a:ln>
            <a:noFill/>
          </a:ln>
        </p:spPr>
        <p:txBody>
          <a:bodyPr spcFirstLastPara="1" wrap="square" lIns="91425" tIns="45700" rIns="91425" bIns="45700" anchor="t" anchorCtr="0">
            <a:noAutofit/>
          </a:bodyPr>
          <a:lstStyle/>
          <a:p>
            <a:r>
              <a:rPr lang="en-IN" sz="2400" dirty="0">
                <a:latin typeface="Times New Roman" panose="02020603050405020304" pitchFamily="18" charset="0"/>
                <a:cs typeface="Times New Roman" panose="02020603050405020304" pitchFamily="18" charset="0"/>
              </a:rPr>
              <a:t>Traditional log processing — reading a file top to bottom with a single script — does not scale. As log volume increases:</a:t>
            </a:r>
          </a:p>
          <a:p>
            <a:pPr lvl="0"/>
            <a:r>
              <a:rPr lang="en-IN" sz="2400" dirty="0">
                <a:latin typeface="Times New Roman" panose="02020603050405020304" pitchFamily="18" charset="0"/>
                <a:cs typeface="Times New Roman" panose="02020603050405020304" pitchFamily="18" charset="0"/>
              </a:rPr>
              <a:t>A single machine's CPU and memory become a bottleneck.</a:t>
            </a:r>
          </a:p>
          <a:p>
            <a:pPr lvl="0"/>
            <a:r>
              <a:rPr lang="en-IN" sz="2400" dirty="0">
                <a:latin typeface="Times New Roman" panose="02020603050405020304" pitchFamily="18" charset="0"/>
                <a:cs typeface="Times New Roman" panose="02020603050405020304" pitchFamily="18" charset="0"/>
              </a:rPr>
              <a:t>Processing time increases linearly (or worse) with data size, with no way to speed it up beyond upgrading one machine.</a:t>
            </a:r>
          </a:p>
          <a:p>
            <a:pPr lvl="0"/>
            <a:r>
              <a:rPr lang="en-IN" sz="2400" dirty="0">
                <a:latin typeface="Times New Roman" panose="02020603050405020304" pitchFamily="18" charset="0"/>
                <a:cs typeface="Times New Roman" panose="02020603050405020304" pitchFamily="18" charset="0"/>
              </a:rPr>
              <a:t>There is no built-in fault tolerance — if the machine or disk fails mid-process, the work is lost.</a:t>
            </a:r>
          </a:p>
          <a:p>
            <a:pPr lvl="0"/>
            <a:r>
              <a:rPr lang="en-IN" sz="2400" dirty="0">
                <a:latin typeface="Times New Roman" panose="02020603050405020304" pitchFamily="18" charset="0"/>
                <a:cs typeface="Times New Roman" panose="02020603050405020304" pitchFamily="18" charset="0"/>
              </a:rPr>
              <a:t>Large-scale log data is often too big to even fit on one machine's storage.</a:t>
            </a:r>
          </a:p>
          <a:p>
            <a:pPr marL="114300" lvl="0" indent="0">
              <a:buNone/>
            </a:pPr>
            <a:r>
              <a:rPr lang="en-IN" sz="2400" b="1" dirty="0">
                <a:latin typeface="Times New Roman" panose="02020603050405020304" pitchFamily="18" charset="0"/>
                <a:cs typeface="Times New Roman" panose="02020603050405020304" pitchFamily="18" charset="0"/>
              </a:rPr>
              <a:t>The problem this project addresses:</a:t>
            </a:r>
            <a:r>
              <a:rPr lang="en-IN" sz="2400" dirty="0">
                <a:latin typeface="Times New Roman" panose="02020603050405020304" pitchFamily="18" charset="0"/>
                <a:cs typeface="Times New Roman" panose="02020603050405020304" pitchFamily="18" charset="0"/>
              </a:rPr>
              <a:t> how can large volumes of log data be stored reliably and processed quickly by distributing the work across multiple machines, in a way that scales as data volume grows?</a:t>
            </a:r>
          </a:p>
        </p:txBody>
      </p:sp>
      <p:sp>
        <p:nvSpPr>
          <p:cNvPr id="152" name="Google Shape;152;p19"/>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153" name="Google Shape;153;p19"/>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3</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4" name="Image 3">
            <a:extLst>
              <a:ext uri="{FF2B5EF4-FFF2-40B4-BE49-F238E27FC236}">
                <a16:creationId xmlns:a16="http://schemas.microsoft.com/office/drawing/2014/main" id="{E154C590-5EE8-2CC9-C392-009C7847B2C6}"/>
              </a:ext>
            </a:extLst>
          </p:cNvPr>
          <p:cNvPicPr>
            <a:picLocks/>
          </p:cNvPicPr>
          <p:nvPr/>
        </p:nvPicPr>
        <p:blipFill>
          <a:blip r:embed="rId3" cstate="print"/>
          <a:stretch>
            <a:fillRect/>
          </a:stretch>
        </p:blipFill>
        <p:spPr>
          <a:xfrm>
            <a:off x="10715625" y="152400"/>
            <a:ext cx="1181100" cy="1110466"/>
          </a:xfrm>
          <a:prstGeom prst="rect">
            <a:avLst/>
          </a:prstGeom>
        </p:spPr>
      </p:pic>
      <p:pic>
        <p:nvPicPr>
          <p:cNvPr id="6" name="Image 6">
            <a:extLst>
              <a:ext uri="{FF2B5EF4-FFF2-40B4-BE49-F238E27FC236}">
                <a16:creationId xmlns:a16="http://schemas.microsoft.com/office/drawing/2014/main" id="{CD852A03-42BE-2D07-5F2E-C977565D4320}"/>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9AB8888A-0C95-F7C8-42AB-3AE48D04CAEE}"/>
              </a:ext>
            </a:extLst>
          </p:cNvPr>
          <p:cNvSpPr>
            <a:spLocks noGrp="1"/>
          </p:cNvSpPr>
          <p:nvPr>
            <p:ph type="dt" idx="10"/>
          </p:nvPr>
        </p:nvSpPr>
        <p:spPr/>
        <p:txBody>
          <a:bodyPr/>
          <a:lstStyle/>
          <a:p>
            <a:fld id="{9DC0291C-CA4A-4D0F-AEA5-51052FE7C68A}" type="datetime1">
              <a:rPr lang="en-US" smtClean="0"/>
              <a:t>8/31/2026</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0"/>
          <p:cNvSpPr txBox="1">
            <a:spLocks noGrp="1"/>
          </p:cNvSpPr>
          <p:nvPr>
            <p:ph type="title"/>
          </p:nvPr>
        </p:nvSpPr>
        <p:spPr>
          <a:xfrm>
            <a:off x="838200" y="587379"/>
            <a:ext cx="10515600" cy="102552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Times New Roman" panose="02020603050405020304"/>
              <a:buNone/>
            </a:pPr>
            <a:r>
              <a:rPr lang="en-US" sz="40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OBJECTIVES</a:t>
            </a:r>
          </a:p>
        </p:txBody>
      </p:sp>
      <p:sp>
        <p:nvSpPr>
          <p:cNvPr id="159" name="Google Shape;159;p20"/>
          <p:cNvSpPr txBox="1">
            <a:spLocks noGrp="1"/>
          </p:cNvSpPr>
          <p:nvPr>
            <p:ph type="body" idx="1"/>
          </p:nvPr>
        </p:nvSpPr>
        <p:spPr>
          <a:xfrm>
            <a:off x="790575" y="1962943"/>
            <a:ext cx="10515600" cy="4351337"/>
          </a:xfrm>
          <a:prstGeom prst="rect">
            <a:avLst/>
          </a:prstGeom>
          <a:noFill/>
          <a:ln>
            <a:noFill/>
          </a:ln>
        </p:spPr>
        <p:txBody>
          <a:bodyPr spcFirstLastPara="1" wrap="square" lIns="91425" tIns="45700" rIns="91425" bIns="45700" anchor="t" anchorCtr="0">
            <a:noAutofit/>
          </a:bodyPr>
          <a:lstStyle/>
          <a:p>
            <a:pPr lvl="0"/>
            <a:r>
              <a:rPr lang="en-IN" sz="2400" dirty="0">
                <a:latin typeface="Times New Roman" panose="02020603050405020304" pitchFamily="18" charset="0"/>
                <a:cs typeface="Times New Roman" panose="02020603050405020304" pitchFamily="18" charset="0"/>
              </a:rPr>
              <a:t>To design a system for reliably storing large volumes of log data using a distributed file system (HDFS).</a:t>
            </a:r>
          </a:p>
          <a:p>
            <a:pPr lvl="0"/>
            <a:r>
              <a:rPr lang="en-IN" sz="2400" dirty="0">
                <a:latin typeface="Times New Roman" panose="02020603050405020304" pitchFamily="18" charset="0"/>
                <a:cs typeface="Times New Roman" panose="02020603050405020304" pitchFamily="18" charset="0"/>
              </a:rPr>
              <a:t>To implement a MapReduce-based processing pipeline that parses raw log data and extracts meaningful patterns (e.g. error frequency, traffic sources, popular endpoints) in parallel.</a:t>
            </a:r>
          </a:p>
          <a:p>
            <a:pPr lvl="0"/>
            <a:r>
              <a:rPr lang="en-IN" sz="2400" dirty="0">
                <a:latin typeface="Times New Roman" panose="02020603050405020304" pitchFamily="18" charset="0"/>
                <a:cs typeface="Times New Roman" panose="02020603050405020304" pitchFamily="18" charset="0"/>
              </a:rPr>
              <a:t>To aggregate the processed results into a structured, query able format.</a:t>
            </a:r>
          </a:p>
          <a:p>
            <a:pPr lvl="0"/>
            <a:r>
              <a:rPr lang="en-IN" sz="2400" dirty="0">
                <a:latin typeface="Times New Roman" panose="02020603050405020304" pitchFamily="18" charset="0"/>
                <a:cs typeface="Times New Roman" panose="02020603050405020304" pitchFamily="18" charset="0"/>
              </a:rPr>
              <a:t>To visualize the aggregated results through an interactive dashboard for easy interpretation.</a:t>
            </a:r>
          </a:p>
          <a:p>
            <a:pPr lvl="0"/>
            <a:r>
              <a:rPr lang="en-IN" sz="2400" dirty="0">
                <a:latin typeface="Times New Roman" panose="02020603050405020304" pitchFamily="18" charset="0"/>
                <a:cs typeface="Times New Roman" panose="02020603050405020304" pitchFamily="18" charset="0"/>
              </a:rPr>
              <a:t>To demonstrate that the same pipeline can scale from a single test machine to a full multi-node cluster without changing the underlying logic.</a:t>
            </a:r>
          </a:p>
        </p:txBody>
      </p:sp>
      <p:sp>
        <p:nvSpPr>
          <p:cNvPr id="162" name="Google Shape;162;p20"/>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163" name="Google Shape;163;p20"/>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4</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76E54A7C-8AA1-F257-85EC-42955BAF7432}"/>
              </a:ext>
            </a:extLst>
          </p:cNvPr>
          <p:cNvPicPr>
            <a:picLocks/>
          </p:cNvPicPr>
          <p:nvPr/>
        </p:nvPicPr>
        <p:blipFill>
          <a:blip r:embed="rId3"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0D10D67B-4541-D585-AC24-2A911755E0C2}"/>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2F040239-FF07-F2E8-6D63-1A18CF215BA4}"/>
              </a:ext>
            </a:extLst>
          </p:cNvPr>
          <p:cNvSpPr>
            <a:spLocks noGrp="1"/>
          </p:cNvSpPr>
          <p:nvPr>
            <p:ph type="dt" idx="10"/>
          </p:nvPr>
        </p:nvSpPr>
        <p:spPr/>
        <p:txBody>
          <a:bodyPr/>
          <a:lstStyle/>
          <a:p>
            <a:fld id="{2F071F1C-2750-4F66-A870-CB3A0E13767D}" type="datetime1">
              <a:rPr lang="en-US" smtClean="0"/>
              <a:t>8/31/2026</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p:nvPr>
        </p:nvSpPr>
        <p:spPr>
          <a:xfrm>
            <a:off x="838200" y="665162"/>
            <a:ext cx="10515600" cy="6667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Times New Roman" panose="02020603050405020304"/>
              <a:buNone/>
            </a:pPr>
            <a:r>
              <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LITERATURE REVIEW </a:t>
            </a:r>
          </a:p>
        </p:txBody>
      </p:sp>
      <p:sp>
        <p:nvSpPr>
          <p:cNvPr id="141" name="Google Shape;141;p18"/>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3/27/2025</a:t>
            </a:r>
          </a:p>
        </p:txBody>
      </p:sp>
      <p:sp>
        <p:nvSpPr>
          <p:cNvPr id="142" name="Google Shape;142;p18"/>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143" name="Google Shape;143;p18"/>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5</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graphicFrame>
        <p:nvGraphicFramePr>
          <p:cNvPr id="2" name="Google Shape;140;p18"/>
          <p:cNvGraphicFramePr/>
          <p:nvPr>
            <p:custDataLst>
              <p:tags r:id="rId1"/>
            </p:custDataLst>
            <p:extLst>
              <p:ext uri="{D42A27DB-BD31-4B8C-83A1-F6EECF244321}">
                <p14:modId xmlns:p14="http://schemas.microsoft.com/office/powerpoint/2010/main" val="4049239313"/>
              </p:ext>
            </p:extLst>
          </p:nvPr>
        </p:nvGraphicFramePr>
        <p:xfrm>
          <a:off x="672116" y="1325755"/>
          <a:ext cx="11081447" cy="5116982"/>
        </p:xfrm>
        <a:graphic>
          <a:graphicData uri="http://schemas.openxmlformats.org/drawingml/2006/table">
            <a:tbl>
              <a:tblPr>
                <a:noFill/>
                <a:tableStyleId>{ADF2354A-A12C-4E9B-BB12-B8800B2731A6}</a:tableStyleId>
              </a:tblPr>
              <a:tblGrid>
                <a:gridCol w="696747">
                  <a:extLst>
                    <a:ext uri="{9D8B030D-6E8A-4147-A177-3AD203B41FA5}">
                      <a16:colId xmlns:a16="http://schemas.microsoft.com/office/drawing/2014/main" val="20000"/>
                    </a:ext>
                  </a:extLst>
                </a:gridCol>
                <a:gridCol w="3302177">
                  <a:extLst>
                    <a:ext uri="{9D8B030D-6E8A-4147-A177-3AD203B41FA5}">
                      <a16:colId xmlns:a16="http://schemas.microsoft.com/office/drawing/2014/main" val="20001"/>
                    </a:ext>
                  </a:extLst>
                </a:gridCol>
                <a:gridCol w="2746143">
                  <a:extLst>
                    <a:ext uri="{9D8B030D-6E8A-4147-A177-3AD203B41FA5}">
                      <a16:colId xmlns:a16="http://schemas.microsoft.com/office/drawing/2014/main" val="20002"/>
                    </a:ext>
                  </a:extLst>
                </a:gridCol>
                <a:gridCol w="1996304">
                  <a:extLst>
                    <a:ext uri="{9D8B030D-6E8A-4147-A177-3AD203B41FA5}">
                      <a16:colId xmlns:a16="http://schemas.microsoft.com/office/drawing/2014/main" val="20003"/>
                    </a:ext>
                  </a:extLst>
                </a:gridCol>
                <a:gridCol w="2340076">
                  <a:extLst>
                    <a:ext uri="{9D8B030D-6E8A-4147-A177-3AD203B41FA5}">
                      <a16:colId xmlns:a16="http://schemas.microsoft.com/office/drawing/2014/main" val="20004"/>
                    </a:ext>
                  </a:extLst>
                </a:gridCol>
              </a:tblGrid>
              <a:tr h="562456">
                <a:tc>
                  <a:txBody>
                    <a:bodyPr/>
                    <a:lstStyle/>
                    <a:p>
                      <a:pPr algn="l">
                        <a:buNone/>
                      </a:pPr>
                      <a:r>
                        <a:rPr lang="en-IN" dirty="0">
                          <a:latin typeface="Times New Roman" panose="02020603050405020304" pitchFamily="18" charset="0"/>
                          <a:cs typeface="Times New Roman" panose="02020603050405020304" pitchFamily="18" charset="0"/>
                        </a:rPr>
                        <a:t>S.NO</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DETAILS OF THE JOURNAL</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ALGORITHM / METHODOLOGY USED</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ADVANTAGES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DISADVANTAGES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4B183"/>
                    </a:solidFill>
                  </a:tcPr>
                </a:tc>
                <a:extLst>
                  <a:ext uri="{0D108BD9-81ED-4DB2-BD59-A6C34878D82A}">
                    <a16:rowId xmlns:a16="http://schemas.microsoft.com/office/drawing/2014/main" val="10000"/>
                  </a:ext>
                </a:extLst>
              </a:tr>
              <a:tr h="989374">
                <a:tc>
                  <a:txBody>
                    <a:bodyPr/>
                    <a:lstStyle/>
                    <a:p>
                      <a:pPr algn="l">
                        <a:buNone/>
                      </a:pPr>
                      <a:r>
                        <a:rPr lang="en-IN" dirty="0">
                          <a:latin typeface="Times New Roman" panose="02020603050405020304" pitchFamily="18" charset="0"/>
                          <a:cs typeface="Times New Roman" panose="02020603050405020304" pitchFamily="18" charset="0"/>
                        </a:rPr>
                        <a:t>1</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Efficient Log Analysis Using Hadoop MapReduce Framework (IEEE Access, 2021)</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MapReduce with Regex-Based Log Parsing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Throughput: 1–5 GB/min</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Handles large unstructured log files efficiently across nodes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Performance drops with very small files (small-file problem)</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extLst>
                  <a:ext uri="{0D108BD9-81ED-4DB2-BD59-A6C34878D82A}">
                    <a16:rowId xmlns:a16="http://schemas.microsoft.com/office/drawing/2014/main" val="10001"/>
                  </a:ext>
                </a:extLst>
              </a:tr>
              <a:tr h="683179">
                <a:tc>
                  <a:txBody>
                    <a:bodyPr/>
                    <a:lstStyle/>
                    <a:p>
                      <a:pPr algn="l">
                        <a:buNone/>
                      </a:pPr>
                      <a:r>
                        <a:rPr lang="en-IN">
                          <a:latin typeface="Times New Roman" panose="02020603050405020304" pitchFamily="18" charset="0"/>
                          <a:cs typeface="Times New Roman" panose="02020603050405020304" pitchFamily="18" charset="0"/>
                        </a:rPr>
                        <a:t>2</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A Comparative Study of Hadoop and Spark for Log Processing (Elsevier, 2022)</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Hadoop MapReduce vs Apache Spark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Speed-up: Spark 5–10x faster</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Identifies clear performance benchmarks for batch log workloads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MapReduce shows high I/O overhead due to disk-based processing</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extLst>
                  <a:ext uri="{0D108BD9-81ED-4DB2-BD59-A6C34878D82A}">
                    <a16:rowId xmlns:a16="http://schemas.microsoft.com/office/drawing/2014/main" val="10002"/>
                  </a:ext>
                </a:extLst>
              </a:tr>
              <a:tr h="843957">
                <a:tc>
                  <a:txBody>
                    <a:bodyPr/>
                    <a:lstStyle/>
                    <a:p>
                      <a:pPr algn="l">
                        <a:buNone/>
                      </a:pPr>
                      <a:r>
                        <a:rPr lang="en-IN">
                          <a:latin typeface="Times New Roman" panose="02020603050405020304" pitchFamily="18" charset="0"/>
                          <a:cs typeface="Times New Roman" panose="02020603050405020304" pitchFamily="18" charset="0"/>
                        </a:rPr>
                        <a:t>3</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Real-Time Anomaly Detection in System Logs Using Hadoop Ecosystem (Springer, 2022)</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HDFS + MapReduce + Threshold-Based Anomaly Detection</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Detection</a:t>
                      </a:r>
                      <a:r>
                        <a:rPr lang="en-IN" dirty="0">
                          <a:latin typeface="Times New Roman" panose="02020603050405020304" pitchFamily="18" charset="0"/>
                          <a:cs typeface="Times New Roman" panose="02020603050405020304" pitchFamily="18" charset="0"/>
                        </a:rPr>
                        <a:t> Accuracy: 80–88%</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Enables early detection of error spikes and unusual access patterns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Not truly real-time; batch processing introduces latency</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extLst>
                  <a:ext uri="{0D108BD9-81ED-4DB2-BD59-A6C34878D82A}">
                    <a16:rowId xmlns:a16="http://schemas.microsoft.com/office/drawing/2014/main" val="10003"/>
                  </a:ext>
                </a:extLst>
              </a:tr>
              <a:tr h="760550">
                <a:tc>
                  <a:txBody>
                    <a:bodyPr/>
                    <a:lstStyle/>
                    <a:p>
                      <a:pPr algn="l">
                        <a:buNone/>
                      </a:pPr>
                      <a:r>
                        <a:rPr lang="en-IN">
                          <a:latin typeface="Times New Roman" panose="02020603050405020304" pitchFamily="18" charset="0"/>
                          <a:cs typeface="Times New Roman" panose="02020603050405020304" pitchFamily="18" charset="0"/>
                        </a:rPr>
                        <a:t>4</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Distributed Web Server Log Analysis Using Hadoop (IEEE, 2023)</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a:latin typeface="Times New Roman" panose="02020603050405020304" pitchFamily="18" charset="0"/>
                          <a:cs typeface="Times New Roman" panose="02020603050405020304" pitchFamily="18" charset="0"/>
                        </a:rPr>
                        <a:t>MapReduce with Combiner Optimization</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Processing Time Reduced: 30–40%</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Combiner phase significantly reduces network shuffle overhead</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Requires careful tuning of combiner logic; not automatic</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extLst>
                  <a:ext uri="{0D108BD9-81ED-4DB2-BD59-A6C34878D82A}">
                    <a16:rowId xmlns:a16="http://schemas.microsoft.com/office/drawing/2014/main" val="10004"/>
                  </a:ext>
                </a:extLst>
              </a:tr>
              <a:tr h="1044795">
                <a:tc>
                  <a:txBody>
                    <a:bodyPr/>
                    <a:lstStyle/>
                    <a:p>
                      <a:pPr algn="l">
                        <a:buNone/>
                      </a:pPr>
                      <a:r>
                        <a:rPr lang="en-IN">
                          <a:latin typeface="Times New Roman" panose="02020603050405020304" pitchFamily="18" charset="0"/>
                          <a:cs typeface="Times New Roman" panose="02020603050405020304" pitchFamily="18" charset="0"/>
                        </a:rPr>
                        <a:t>5</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Scalable Log Mining Framework Using HDFS and Hive (International Journal, 2024)</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HDFS Storage + Hive Query Layer over MapReduce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Query Speed Improvement: 2–3x</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Simplifies analysis via SQL-like querying instead of raw MapReduce code</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tc>
                  <a:txBody>
                    <a:bodyPr/>
                    <a:lstStyle/>
                    <a:p>
                      <a:pPr algn="l">
                        <a:buNone/>
                      </a:pPr>
                      <a:r>
                        <a:rPr lang="en-IN" dirty="0">
                          <a:latin typeface="Times New Roman" panose="02020603050405020304" pitchFamily="18" charset="0"/>
                          <a:cs typeface="Times New Roman" panose="02020603050405020304" pitchFamily="18" charset="0"/>
                        </a:rPr>
                        <a:t>Hive adds abstraction overhead, less control over low-level optimization</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B183"/>
                    </a:solidFill>
                  </a:tcPr>
                </a:tc>
                <a:extLst>
                  <a:ext uri="{0D108BD9-81ED-4DB2-BD59-A6C34878D82A}">
                    <a16:rowId xmlns:a16="http://schemas.microsoft.com/office/drawing/2014/main" val="10005"/>
                  </a:ext>
                </a:extLst>
              </a:tr>
            </a:tbl>
          </a:graphicData>
        </a:graphic>
      </p:graphicFrame>
      <p:sp>
        <p:nvSpPr>
          <p:cNvPr id="111" name="Google Shape;111;p15"/>
          <p:cNvSpPr txBox="1"/>
          <p:nvPr/>
        </p:nvSpPr>
        <p:spPr>
          <a:xfrm>
            <a:off x="965200" y="6483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00" name="Google Shape;300;p34"/>
          <p:cNvSpPr txBox="1"/>
          <p:nvPr/>
        </p:nvSpPr>
        <p:spPr>
          <a:xfrm>
            <a:off x="4155440" y="6483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3" name="Date Placeholder 2">
            <a:extLst>
              <a:ext uri="{FF2B5EF4-FFF2-40B4-BE49-F238E27FC236}">
                <a16:creationId xmlns:a16="http://schemas.microsoft.com/office/drawing/2014/main" id="{CF002D70-A0D1-A33B-D611-7DDECD91EA53}"/>
              </a:ext>
            </a:extLst>
          </p:cNvPr>
          <p:cNvSpPr>
            <a:spLocks noGrp="1"/>
          </p:cNvSpPr>
          <p:nvPr>
            <p:ph type="dt" idx="10"/>
          </p:nvPr>
        </p:nvSpPr>
        <p:spPr/>
        <p:txBody>
          <a:bodyPr/>
          <a:lstStyle/>
          <a:p>
            <a:fld id="{6413453C-D836-4AB7-81C9-0AA1F21010B3}" type="datetime1">
              <a:rPr lang="en-US" smtClean="0"/>
              <a:t>8/31/2026</a:t>
            </a:fld>
            <a:endParaRPr lang="en-US"/>
          </a:p>
        </p:txBody>
      </p:sp>
      <p:pic>
        <p:nvPicPr>
          <p:cNvPr id="5" name="Image 6">
            <a:extLst>
              <a:ext uri="{FF2B5EF4-FFF2-40B4-BE49-F238E27FC236}">
                <a16:creationId xmlns:a16="http://schemas.microsoft.com/office/drawing/2014/main" id="{17FD3532-9341-C21E-631E-1E8F40D8B46E}"/>
              </a:ext>
            </a:extLst>
          </p:cNvPr>
          <p:cNvPicPr>
            <a:picLocks/>
          </p:cNvPicPr>
          <p:nvPr/>
        </p:nvPicPr>
        <p:blipFill>
          <a:blip r:embed="rId4" cstate="print"/>
          <a:stretch>
            <a:fillRect/>
          </a:stretch>
        </p:blipFill>
        <p:spPr>
          <a:xfrm>
            <a:off x="304800" y="152400"/>
            <a:ext cx="1371600" cy="1156127"/>
          </a:xfrm>
          <a:prstGeom prst="rect">
            <a:avLst/>
          </a:prstGeom>
        </p:spPr>
      </p:pic>
      <p:pic>
        <p:nvPicPr>
          <p:cNvPr id="7" name="Image 3">
            <a:extLst>
              <a:ext uri="{FF2B5EF4-FFF2-40B4-BE49-F238E27FC236}">
                <a16:creationId xmlns:a16="http://schemas.microsoft.com/office/drawing/2014/main" id="{6485890D-B458-A011-0150-D7D80E652F7E}"/>
              </a:ext>
            </a:extLst>
          </p:cNvPr>
          <p:cNvPicPr>
            <a:picLocks/>
          </p:cNvPicPr>
          <p:nvPr/>
        </p:nvPicPr>
        <p:blipFill>
          <a:blip r:embed="rId5" cstate="print"/>
          <a:stretch>
            <a:fillRect/>
          </a:stretch>
        </p:blipFill>
        <p:spPr>
          <a:xfrm>
            <a:off x="10715625" y="152400"/>
            <a:ext cx="1181100" cy="11104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462C8AD7-E940-05D1-EB87-E7C2D9042311}"/>
            </a:ext>
          </a:extLst>
        </p:cNvPr>
        <p:cNvGrpSpPr/>
        <p:nvPr/>
      </p:nvGrpSpPr>
      <p:grpSpPr>
        <a:xfrm>
          <a:off x="0" y="0"/>
          <a:ext cx="0" cy="0"/>
          <a:chOff x="0" y="0"/>
          <a:chExt cx="0" cy="0"/>
        </a:xfrm>
      </p:grpSpPr>
      <p:sp>
        <p:nvSpPr>
          <p:cNvPr id="168" name="Google Shape;168;p21">
            <a:extLst>
              <a:ext uri="{FF2B5EF4-FFF2-40B4-BE49-F238E27FC236}">
                <a16:creationId xmlns:a16="http://schemas.microsoft.com/office/drawing/2014/main" id="{5A9EF330-1BE4-9DFD-DA95-153BE7C8594E}"/>
              </a:ext>
            </a:extLst>
          </p:cNvPr>
          <p:cNvSpPr txBox="1">
            <a:spLocks noGrp="1"/>
          </p:cNvSpPr>
          <p:nvPr>
            <p:ph type="title"/>
          </p:nvPr>
        </p:nvSpPr>
        <p:spPr>
          <a:xfrm>
            <a:off x="1346925" y="608574"/>
            <a:ext cx="9731477" cy="68027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Times New Roman" panose="02020603050405020304"/>
              <a:buNone/>
            </a:pPr>
            <a:r>
              <a:rPr lang="en-US" sz="2400" b="1"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PROPOSED METHODOLOGY – ARCHITECTURE DIAGRAM </a:t>
            </a:r>
          </a:p>
        </p:txBody>
      </p:sp>
      <p:sp>
        <p:nvSpPr>
          <p:cNvPr id="172" name="Google Shape;172;p21">
            <a:extLst>
              <a:ext uri="{FF2B5EF4-FFF2-40B4-BE49-F238E27FC236}">
                <a16:creationId xmlns:a16="http://schemas.microsoft.com/office/drawing/2014/main" id="{B0F0235D-3FA2-97CF-F3E8-FCA243916AB1}"/>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173" name="Google Shape;173;p21">
            <a:extLst>
              <a:ext uri="{FF2B5EF4-FFF2-40B4-BE49-F238E27FC236}">
                <a16:creationId xmlns:a16="http://schemas.microsoft.com/office/drawing/2014/main" id="{E5986980-DD11-DD27-394B-60E4394A488D}"/>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6</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BF14FE57-C0AA-BC20-5DE4-0016E9A21A79}"/>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00" name="Google Shape;300;p34">
            <a:extLst>
              <a:ext uri="{FF2B5EF4-FFF2-40B4-BE49-F238E27FC236}">
                <a16:creationId xmlns:a16="http://schemas.microsoft.com/office/drawing/2014/main" id="{13CC6D7A-25C4-F167-110C-37157A3C151C}"/>
              </a:ext>
            </a:extLst>
          </p:cNvPr>
          <p:cNvSpPr txBox="1"/>
          <p:nvPr/>
        </p:nvSpPr>
        <p:spPr>
          <a:xfrm>
            <a:off x="4165600" y="6483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4" name="Image 3">
            <a:extLst>
              <a:ext uri="{FF2B5EF4-FFF2-40B4-BE49-F238E27FC236}">
                <a16:creationId xmlns:a16="http://schemas.microsoft.com/office/drawing/2014/main" id="{BF488937-0178-CEE0-371E-C46200AD5542}"/>
              </a:ext>
            </a:extLst>
          </p:cNvPr>
          <p:cNvPicPr>
            <a:picLocks/>
          </p:cNvPicPr>
          <p:nvPr/>
        </p:nvPicPr>
        <p:blipFill>
          <a:blip r:embed="rId3" cstate="print"/>
          <a:stretch>
            <a:fillRect/>
          </a:stretch>
        </p:blipFill>
        <p:spPr>
          <a:xfrm>
            <a:off x="10715625" y="152400"/>
            <a:ext cx="1181100" cy="1110466"/>
          </a:xfrm>
          <a:prstGeom prst="rect">
            <a:avLst/>
          </a:prstGeom>
        </p:spPr>
      </p:pic>
      <p:pic>
        <p:nvPicPr>
          <p:cNvPr id="6" name="Image 6">
            <a:extLst>
              <a:ext uri="{FF2B5EF4-FFF2-40B4-BE49-F238E27FC236}">
                <a16:creationId xmlns:a16="http://schemas.microsoft.com/office/drawing/2014/main" id="{F7F704C3-9801-CC44-BF2C-1CC130B37376}"/>
              </a:ext>
            </a:extLst>
          </p:cNvPr>
          <p:cNvPicPr>
            <a:picLocks/>
          </p:cNvPicPr>
          <p:nvPr/>
        </p:nvPicPr>
        <p:blipFill>
          <a:blip r:embed="rId4" cstate="print"/>
          <a:stretch>
            <a:fillRect/>
          </a:stretch>
        </p:blipFill>
        <p:spPr>
          <a:xfrm>
            <a:off x="304800" y="152400"/>
            <a:ext cx="1371600" cy="1156127"/>
          </a:xfrm>
          <a:prstGeom prst="rect">
            <a:avLst/>
          </a:prstGeom>
        </p:spPr>
      </p:pic>
      <p:cxnSp>
        <p:nvCxnSpPr>
          <p:cNvPr id="12" name="Connector: Curved 11">
            <a:extLst>
              <a:ext uri="{FF2B5EF4-FFF2-40B4-BE49-F238E27FC236}">
                <a16:creationId xmlns:a16="http://schemas.microsoft.com/office/drawing/2014/main" id="{2F6A3B93-ABFE-9A61-B0AC-007767F4DEE9}"/>
              </a:ext>
            </a:extLst>
          </p:cNvPr>
          <p:cNvCxnSpPr>
            <a:cxnSpLocks/>
          </p:cNvCxnSpPr>
          <p:nvPr/>
        </p:nvCxnSpPr>
        <p:spPr>
          <a:xfrm>
            <a:off x="5932445" y="3920856"/>
            <a:ext cx="560439" cy="38567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7CF9A7EC-559A-6D50-7097-F6C2592D22C6}"/>
              </a:ext>
            </a:extLst>
          </p:cNvPr>
          <p:cNvSpPr>
            <a:spLocks noGrp="1"/>
          </p:cNvSpPr>
          <p:nvPr>
            <p:ph type="dt" idx="10"/>
          </p:nvPr>
        </p:nvSpPr>
        <p:spPr/>
        <p:txBody>
          <a:bodyPr/>
          <a:lstStyle/>
          <a:p>
            <a:fld id="{24FC4565-FF7A-466B-B7B6-E7CD332AA55B}" type="datetime1">
              <a:rPr lang="en-US" smtClean="0"/>
              <a:t>8/31/2026</a:t>
            </a:fld>
            <a:endParaRPr lang="en-US"/>
          </a:p>
        </p:txBody>
      </p:sp>
      <p:pic>
        <p:nvPicPr>
          <p:cNvPr id="5" name="Picture 4">
            <a:extLst>
              <a:ext uri="{FF2B5EF4-FFF2-40B4-BE49-F238E27FC236}">
                <a16:creationId xmlns:a16="http://schemas.microsoft.com/office/drawing/2014/main" id="{191A56E8-4F83-5E3E-3BBE-E1869C21D489}"/>
              </a:ext>
            </a:extLst>
          </p:cNvPr>
          <p:cNvPicPr>
            <a:picLocks noChangeAspect="1"/>
          </p:cNvPicPr>
          <p:nvPr/>
        </p:nvPicPr>
        <p:blipFill>
          <a:blip r:embed="rId5"/>
          <a:stretch>
            <a:fillRect/>
          </a:stretch>
        </p:blipFill>
        <p:spPr>
          <a:xfrm>
            <a:off x="1966452" y="1604752"/>
            <a:ext cx="8465573" cy="4725616"/>
          </a:xfrm>
          <a:prstGeom prst="rect">
            <a:avLst/>
          </a:prstGeom>
        </p:spPr>
      </p:pic>
    </p:spTree>
    <p:extLst>
      <p:ext uri="{BB962C8B-B14F-4D97-AF65-F5344CB8AC3E}">
        <p14:creationId xmlns:p14="http://schemas.microsoft.com/office/powerpoint/2010/main" val="2356375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1330274" y="614342"/>
            <a:ext cx="9731477" cy="68027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Times New Roman" panose="02020603050405020304"/>
              <a:buNone/>
            </a:pPr>
            <a:r>
              <a:rPr lang="en-US" sz="2400" b="1"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PROPOSED METHODOLOGY – ARCHITECTURE DIAGRAM </a:t>
            </a:r>
          </a:p>
        </p:txBody>
      </p:sp>
      <p:sp>
        <p:nvSpPr>
          <p:cNvPr id="172" name="Google Shape;172;p21"/>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173" name="Google Shape;173;p21"/>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7</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00" name="Google Shape;300;p34"/>
          <p:cNvSpPr txBox="1"/>
          <p:nvPr/>
        </p:nvSpPr>
        <p:spPr>
          <a:xfrm>
            <a:off x="4165600" y="6483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4" name="Image 3">
            <a:extLst>
              <a:ext uri="{FF2B5EF4-FFF2-40B4-BE49-F238E27FC236}">
                <a16:creationId xmlns:a16="http://schemas.microsoft.com/office/drawing/2014/main" id="{630FDF13-0120-ECCC-3CA0-3B4C9C8C2CB4}"/>
              </a:ext>
            </a:extLst>
          </p:cNvPr>
          <p:cNvPicPr>
            <a:picLocks/>
          </p:cNvPicPr>
          <p:nvPr/>
        </p:nvPicPr>
        <p:blipFill>
          <a:blip r:embed="rId3" cstate="print"/>
          <a:stretch>
            <a:fillRect/>
          </a:stretch>
        </p:blipFill>
        <p:spPr>
          <a:xfrm>
            <a:off x="10715625" y="152400"/>
            <a:ext cx="1181100" cy="1110466"/>
          </a:xfrm>
          <a:prstGeom prst="rect">
            <a:avLst/>
          </a:prstGeom>
        </p:spPr>
      </p:pic>
      <p:pic>
        <p:nvPicPr>
          <p:cNvPr id="6" name="Image 6">
            <a:extLst>
              <a:ext uri="{FF2B5EF4-FFF2-40B4-BE49-F238E27FC236}">
                <a16:creationId xmlns:a16="http://schemas.microsoft.com/office/drawing/2014/main" id="{AED6E921-1DCE-3F61-4EE9-DBF7E3127FFC}"/>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249E5E9F-8741-7784-330A-5BF5124E96EC}"/>
              </a:ext>
            </a:extLst>
          </p:cNvPr>
          <p:cNvSpPr>
            <a:spLocks noGrp="1"/>
          </p:cNvSpPr>
          <p:nvPr>
            <p:ph type="dt" idx="10"/>
          </p:nvPr>
        </p:nvSpPr>
        <p:spPr/>
        <p:txBody>
          <a:bodyPr/>
          <a:lstStyle/>
          <a:p>
            <a:fld id="{24FC4565-FF7A-466B-B7B6-E7CD332AA55B}" type="datetime1">
              <a:rPr lang="en-US" smtClean="0"/>
              <a:t>8/31/2026</a:t>
            </a:fld>
            <a:endParaRPr lang="en-US"/>
          </a:p>
        </p:txBody>
      </p:sp>
      <p:pic>
        <p:nvPicPr>
          <p:cNvPr id="5" name="Picture 4">
            <a:extLst>
              <a:ext uri="{FF2B5EF4-FFF2-40B4-BE49-F238E27FC236}">
                <a16:creationId xmlns:a16="http://schemas.microsoft.com/office/drawing/2014/main" id="{187B12BF-6B99-02BB-73CF-6CE18572B914}"/>
              </a:ext>
            </a:extLst>
          </p:cNvPr>
          <p:cNvPicPr>
            <a:picLocks noChangeAspect="1"/>
          </p:cNvPicPr>
          <p:nvPr/>
        </p:nvPicPr>
        <p:blipFill>
          <a:blip r:embed="rId5"/>
          <a:stretch>
            <a:fillRect/>
          </a:stretch>
        </p:blipFill>
        <p:spPr>
          <a:xfrm>
            <a:off x="1893018" y="1448585"/>
            <a:ext cx="8405964" cy="48442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7907ED52-0519-C6DA-F7B7-E61CD2213F1D}"/>
            </a:ext>
          </a:extLst>
        </p:cNvPr>
        <p:cNvGrpSpPr/>
        <p:nvPr/>
      </p:nvGrpSpPr>
      <p:grpSpPr>
        <a:xfrm>
          <a:off x="0" y="0"/>
          <a:ext cx="0" cy="0"/>
          <a:chOff x="0" y="0"/>
          <a:chExt cx="0" cy="0"/>
        </a:xfrm>
      </p:grpSpPr>
      <p:sp>
        <p:nvSpPr>
          <p:cNvPr id="168" name="Google Shape;168;p21">
            <a:extLst>
              <a:ext uri="{FF2B5EF4-FFF2-40B4-BE49-F238E27FC236}">
                <a16:creationId xmlns:a16="http://schemas.microsoft.com/office/drawing/2014/main" id="{7DAADE8A-B2F3-BB68-8F3A-3BE8BF960D58}"/>
              </a:ext>
            </a:extLst>
          </p:cNvPr>
          <p:cNvSpPr txBox="1">
            <a:spLocks noGrp="1"/>
          </p:cNvSpPr>
          <p:nvPr>
            <p:ph type="title"/>
          </p:nvPr>
        </p:nvSpPr>
        <p:spPr>
          <a:xfrm>
            <a:off x="1230261" y="532833"/>
            <a:ext cx="9731477" cy="68027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Times New Roman" panose="02020603050405020304"/>
              <a:buNone/>
            </a:pPr>
            <a:r>
              <a:rPr lang="en-US" sz="2400" b="1"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PROPOSED METHODOLOGY – ARCHITECTURE DIAGRAM </a:t>
            </a:r>
          </a:p>
        </p:txBody>
      </p:sp>
      <p:sp>
        <p:nvSpPr>
          <p:cNvPr id="172" name="Google Shape;172;p21">
            <a:extLst>
              <a:ext uri="{FF2B5EF4-FFF2-40B4-BE49-F238E27FC236}">
                <a16:creationId xmlns:a16="http://schemas.microsoft.com/office/drawing/2014/main" id="{F8C8CB9B-FE0A-8943-8DC5-25D680F8A99B}"/>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173" name="Google Shape;173;p21">
            <a:extLst>
              <a:ext uri="{FF2B5EF4-FFF2-40B4-BE49-F238E27FC236}">
                <a16:creationId xmlns:a16="http://schemas.microsoft.com/office/drawing/2014/main" id="{33BFF111-F8E8-B8D3-95C4-E9F2F020ADD3}"/>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8</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067DAD78-3962-8014-C37F-E84AC2DBAEEC}"/>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00" name="Google Shape;300;p34">
            <a:extLst>
              <a:ext uri="{FF2B5EF4-FFF2-40B4-BE49-F238E27FC236}">
                <a16:creationId xmlns:a16="http://schemas.microsoft.com/office/drawing/2014/main" id="{3366D37F-0206-7307-2C45-137AED4D16B2}"/>
              </a:ext>
            </a:extLst>
          </p:cNvPr>
          <p:cNvSpPr txBox="1"/>
          <p:nvPr/>
        </p:nvSpPr>
        <p:spPr>
          <a:xfrm>
            <a:off x="4165600" y="6483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4" name="Image 3">
            <a:extLst>
              <a:ext uri="{FF2B5EF4-FFF2-40B4-BE49-F238E27FC236}">
                <a16:creationId xmlns:a16="http://schemas.microsoft.com/office/drawing/2014/main" id="{C0AF931B-B8AF-D8A2-A164-EF665B322A77}"/>
              </a:ext>
            </a:extLst>
          </p:cNvPr>
          <p:cNvPicPr>
            <a:picLocks/>
          </p:cNvPicPr>
          <p:nvPr/>
        </p:nvPicPr>
        <p:blipFill>
          <a:blip r:embed="rId3" cstate="print"/>
          <a:stretch>
            <a:fillRect/>
          </a:stretch>
        </p:blipFill>
        <p:spPr>
          <a:xfrm>
            <a:off x="10715625" y="152400"/>
            <a:ext cx="1181100" cy="1110466"/>
          </a:xfrm>
          <a:prstGeom prst="rect">
            <a:avLst/>
          </a:prstGeom>
        </p:spPr>
      </p:pic>
      <p:pic>
        <p:nvPicPr>
          <p:cNvPr id="6" name="Image 6">
            <a:extLst>
              <a:ext uri="{FF2B5EF4-FFF2-40B4-BE49-F238E27FC236}">
                <a16:creationId xmlns:a16="http://schemas.microsoft.com/office/drawing/2014/main" id="{3E410F75-C5BC-9C36-23E0-3BBA90401C85}"/>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B5F9E407-7D7B-FA84-E2DC-D27E9943B0B6}"/>
              </a:ext>
            </a:extLst>
          </p:cNvPr>
          <p:cNvSpPr>
            <a:spLocks noGrp="1"/>
          </p:cNvSpPr>
          <p:nvPr>
            <p:ph type="dt" idx="10"/>
          </p:nvPr>
        </p:nvSpPr>
        <p:spPr/>
        <p:txBody>
          <a:bodyPr/>
          <a:lstStyle/>
          <a:p>
            <a:fld id="{0FE16B7B-A884-45E5-A8EE-182BCA61CCD0}" type="datetime1">
              <a:rPr lang="en-US" smtClean="0"/>
              <a:t>8/31/2026</a:t>
            </a:fld>
            <a:endParaRPr lang="en-US"/>
          </a:p>
        </p:txBody>
      </p:sp>
      <p:pic>
        <p:nvPicPr>
          <p:cNvPr id="7" name="Picture 6">
            <a:extLst>
              <a:ext uri="{FF2B5EF4-FFF2-40B4-BE49-F238E27FC236}">
                <a16:creationId xmlns:a16="http://schemas.microsoft.com/office/drawing/2014/main" id="{97AFCD12-8E86-E6DF-9C83-EF7069B5F420}"/>
              </a:ext>
            </a:extLst>
          </p:cNvPr>
          <p:cNvPicPr>
            <a:picLocks noChangeAspect="1"/>
          </p:cNvPicPr>
          <p:nvPr/>
        </p:nvPicPr>
        <p:blipFill>
          <a:blip r:embed="rId5"/>
          <a:stretch>
            <a:fillRect/>
          </a:stretch>
        </p:blipFill>
        <p:spPr>
          <a:xfrm>
            <a:off x="1956619" y="1417163"/>
            <a:ext cx="7509497" cy="4576753"/>
          </a:xfrm>
          <a:prstGeom prst="rect">
            <a:avLst/>
          </a:prstGeom>
        </p:spPr>
      </p:pic>
    </p:spTree>
    <p:extLst>
      <p:ext uri="{BB962C8B-B14F-4D97-AF65-F5344CB8AC3E}">
        <p14:creationId xmlns:p14="http://schemas.microsoft.com/office/powerpoint/2010/main" val="2181948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AFF03B9-BC8B-C704-427D-B79B1E1921E9}"/>
              </a:ext>
            </a:extLst>
          </p:cNvPr>
          <p:cNvSpPr txBox="1"/>
          <p:nvPr/>
        </p:nvSpPr>
        <p:spPr>
          <a:xfrm>
            <a:off x="3048000" y="1262180"/>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Modules</a:t>
            </a:r>
            <a:endParaRPr lang="en-IN" sz="36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8566B5B-9420-6175-8B84-9D0993F1F4BF}"/>
              </a:ext>
            </a:extLst>
          </p:cNvPr>
          <p:cNvSpPr txBox="1"/>
          <p:nvPr/>
        </p:nvSpPr>
        <p:spPr>
          <a:xfrm>
            <a:off x="1462086" y="2275523"/>
            <a:ext cx="9989574" cy="1877437"/>
          </a:xfrm>
          <a:prstGeom prst="rect">
            <a:avLst/>
          </a:prstGeom>
          <a:noFill/>
        </p:spPr>
        <p:txBody>
          <a:bodyPr wrap="square">
            <a:spAutoFit/>
          </a:bodyPr>
          <a:lstStyle/>
          <a:p>
            <a:pPr marL="34290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Module 1: Log Ingestion &amp; HDFS Storage</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Module 2: MapReduce Parsing &amp; Aggregation</a:t>
            </a:r>
            <a:br>
              <a:rPr lang="en-IN" sz="1800"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Module 3: Analytics &amp; Anomaly Reporting</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pic>
        <p:nvPicPr>
          <p:cNvPr id="5" name="Image 3">
            <a:extLst>
              <a:ext uri="{FF2B5EF4-FFF2-40B4-BE49-F238E27FC236}">
                <a16:creationId xmlns:a16="http://schemas.microsoft.com/office/drawing/2014/main" id="{26C56B14-4C38-84B8-1DF1-67B6A2A6BD27}"/>
              </a:ext>
            </a:extLst>
          </p:cNvPr>
          <p:cNvPicPr>
            <a:picLocks/>
          </p:cNvPicPr>
          <p:nvPr/>
        </p:nvPicPr>
        <p:blipFill>
          <a:blip r:embed="rId2" cstate="print"/>
          <a:stretch>
            <a:fillRect/>
          </a:stretch>
        </p:blipFill>
        <p:spPr>
          <a:xfrm>
            <a:off x="10715625" y="152400"/>
            <a:ext cx="1181100" cy="1110466"/>
          </a:xfrm>
          <a:prstGeom prst="rect">
            <a:avLst/>
          </a:prstGeom>
        </p:spPr>
      </p:pic>
      <p:pic>
        <p:nvPicPr>
          <p:cNvPr id="9" name="Image 6">
            <a:extLst>
              <a:ext uri="{FF2B5EF4-FFF2-40B4-BE49-F238E27FC236}">
                <a16:creationId xmlns:a16="http://schemas.microsoft.com/office/drawing/2014/main" id="{70A10BC1-D17F-02B8-63A2-ECD39E58D4B7}"/>
              </a:ext>
            </a:extLst>
          </p:cNvPr>
          <p:cNvPicPr>
            <a:picLocks/>
          </p:cNvPicPr>
          <p:nvPr/>
        </p:nvPicPr>
        <p:blipFill>
          <a:blip r:embed="rId3"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42DC2536-EB2E-56F3-A3A8-A07222DBD016}"/>
              </a:ext>
            </a:extLst>
          </p:cNvPr>
          <p:cNvSpPr>
            <a:spLocks noGrp="1"/>
          </p:cNvSpPr>
          <p:nvPr>
            <p:ph type="dt" idx="10"/>
          </p:nvPr>
        </p:nvSpPr>
        <p:spPr/>
        <p:txBody>
          <a:bodyPr/>
          <a:lstStyle/>
          <a:p>
            <a:fld id="{2C09E508-9E08-4E58-9DDA-1A2D37464BDB}" type="datetime1">
              <a:rPr lang="en-US" smtClean="0"/>
              <a:t>8/31/2026</a:t>
            </a:fld>
            <a:endParaRPr lang="en-US"/>
          </a:p>
        </p:txBody>
      </p:sp>
    </p:spTree>
    <p:extLst>
      <p:ext uri="{BB962C8B-B14F-4D97-AF65-F5344CB8AC3E}">
        <p14:creationId xmlns:p14="http://schemas.microsoft.com/office/powerpoint/2010/main" val="1838916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7"/>
          <p:cNvSpPr txBox="1">
            <a:spLocks noGrp="1"/>
          </p:cNvSpPr>
          <p:nvPr>
            <p:ph type="title"/>
          </p:nvPr>
        </p:nvSpPr>
        <p:spPr>
          <a:xfrm>
            <a:off x="1808982" y="990610"/>
            <a:ext cx="8774061" cy="544512"/>
          </a:xfrm>
          <a:prstGeom prst="rect">
            <a:avLst/>
          </a:prstGeom>
          <a:noFill/>
          <a:ln>
            <a:noFill/>
          </a:ln>
        </p:spPr>
        <p:txBody>
          <a:bodyPr spcFirstLastPara="1" wrap="square" lIns="91425" tIns="45700" rIns="91425" bIns="45700" anchor="ctr" anchorCtr="0">
            <a:noAutofit/>
          </a:bodyPr>
          <a:lstStyle/>
          <a:p>
            <a:pPr algn="ctr"/>
            <a:r>
              <a:rPr lang="en-IN" sz="3200" b="1" dirty="0">
                <a:latin typeface="Times New Roman" panose="02020603050405020304" pitchFamily="18" charset="0"/>
                <a:cs typeface="Times New Roman" panose="02020603050405020304" pitchFamily="18" charset="0"/>
              </a:rPr>
              <a:t>Module 1: Log Data Collection &amp; HDFS Storage</a:t>
            </a:r>
          </a:p>
        </p:txBody>
      </p:sp>
      <p:sp>
        <p:nvSpPr>
          <p:cNvPr id="228" name="Google Shape;228;p27"/>
          <p:cNvSpPr txBox="1">
            <a:spLocks noGrp="1"/>
          </p:cNvSpPr>
          <p:nvPr>
            <p:ph type="body" idx="1"/>
          </p:nvPr>
        </p:nvSpPr>
        <p:spPr>
          <a:xfrm>
            <a:off x="393289" y="1982173"/>
            <a:ext cx="11225981" cy="4351337"/>
          </a:xfrm>
          <a:prstGeom prst="rect">
            <a:avLst/>
          </a:prstGeom>
          <a:noFill/>
          <a:ln>
            <a:noFill/>
          </a:ln>
        </p:spPr>
        <p:txBody>
          <a:bodyPr spcFirstLastPara="1" wrap="square" lIns="91425" tIns="45700" rIns="91425" bIns="45700" anchor="t" anchorCtr="0">
            <a:noAutofit/>
          </a:bodyPr>
          <a:lstStyle/>
          <a:p>
            <a:pPr lvl="0"/>
            <a:r>
              <a:rPr lang="en-IN" sz="2400" dirty="0">
                <a:latin typeface="Times New Roman" panose="02020603050405020304" pitchFamily="18" charset="0"/>
                <a:cs typeface="Times New Roman" panose="02020603050405020304" pitchFamily="18" charset="0"/>
              </a:rPr>
              <a:t>Collects raw log files (e.g. Apache/Nginx access logs) from their source into a local directory.</a:t>
            </a:r>
          </a:p>
          <a:p>
            <a:pPr lvl="0"/>
            <a:r>
              <a:rPr lang="en-IN" sz="2400" dirty="0">
                <a:latin typeface="Times New Roman" panose="02020603050405020304" pitchFamily="18" charset="0"/>
                <a:cs typeface="Times New Roman" panose="02020603050405020304" pitchFamily="18" charset="0"/>
              </a:rPr>
              <a:t>Uploads logs into HDFS using hdfs </a:t>
            </a:r>
            <a:r>
              <a:rPr lang="en-IN" sz="2400" dirty="0" err="1">
                <a:latin typeface="Times New Roman" panose="02020603050405020304" pitchFamily="18" charset="0"/>
                <a:cs typeface="Times New Roman" panose="02020603050405020304" pitchFamily="18" charset="0"/>
              </a:rPr>
              <a:t>dfs</a:t>
            </a:r>
            <a:r>
              <a:rPr lang="en-IN" sz="2400" dirty="0">
                <a:latin typeface="Times New Roman" panose="02020603050405020304" pitchFamily="18" charset="0"/>
                <a:cs typeface="Times New Roman" panose="02020603050405020304" pitchFamily="18" charset="0"/>
              </a:rPr>
              <a:t> -put, which splits files into blocks and distributes them across the cluster with replication (</a:t>
            </a:r>
            <a:r>
              <a:rPr lang="en-IN" sz="2400" dirty="0" err="1">
                <a:latin typeface="Times New Roman" panose="02020603050405020304" pitchFamily="18" charset="0"/>
                <a:cs typeface="Times New Roman" panose="02020603050405020304" pitchFamily="18" charset="0"/>
              </a:rPr>
              <a:t>dfs.replication</a:t>
            </a:r>
            <a:r>
              <a:rPr lang="en-IN" sz="2400" dirty="0">
                <a:latin typeface="Times New Roman" panose="02020603050405020304" pitchFamily="18" charset="0"/>
                <a:cs typeface="Times New Roman" panose="02020603050405020304" pitchFamily="18" charset="0"/>
              </a:rPr>
              <a:t> = 1 for single-node setup).</a:t>
            </a:r>
          </a:p>
          <a:p>
            <a:pPr lvl="0"/>
            <a:r>
              <a:rPr lang="en-IN" sz="2400" dirty="0">
                <a:latin typeface="Times New Roman" panose="02020603050405020304" pitchFamily="18" charset="0"/>
                <a:cs typeface="Times New Roman" panose="02020603050405020304" pitchFamily="18" charset="0"/>
              </a:rPr>
              <a:t>Can be automated via a shell script and scheduled with </a:t>
            </a:r>
            <a:r>
              <a:rPr lang="en-IN" sz="2400" dirty="0" err="1">
                <a:latin typeface="Times New Roman" panose="02020603050405020304" pitchFamily="18" charset="0"/>
                <a:cs typeface="Times New Roman" panose="02020603050405020304" pitchFamily="18" charset="0"/>
              </a:rPr>
              <a:t>cron</a:t>
            </a:r>
            <a:r>
              <a:rPr lang="en-IN" sz="2400" dirty="0">
                <a:latin typeface="Times New Roman" panose="02020603050405020304" pitchFamily="18" charset="0"/>
                <a:cs typeface="Times New Roman" panose="02020603050405020304" pitchFamily="18" charset="0"/>
              </a:rPr>
              <a:t> (e.g. */10 * * * *) for continuous ingestion.</a:t>
            </a:r>
          </a:p>
          <a:p>
            <a:pPr lvl="0"/>
            <a:r>
              <a:rPr lang="en-IN" sz="2400" dirty="0">
                <a:latin typeface="Times New Roman" panose="02020603050405020304" pitchFamily="18" charset="0"/>
                <a:cs typeface="Times New Roman" panose="02020603050405020304" pitchFamily="18" charset="0"/>
              </a:rPr>
              <a:t>Verified using hdfs </a:t>
            </a:r>
            <a:r>
              <a:rPr lang="en-IN" sz="2400" dirty="0" err="1">
                <a:latin typeface="Times New Roman" panose="02020603050405020304" pitchFamily="18" charset="0"/>
                <a:cs typeface="Times New Roman" panose="02020603050405020304" pitchFamily="18" charset="0"/>
              </a:rPr>
              <a:t>dfs</a:t>
            </a:r>
            <a:r>
              <a:rPr lang="en-IN" sz="2400" dirty="0">
                <a:latin typeface="Times New Roman" panose="02020603050405020304" pitchFamily="18" charset="0"/>
                <a:cs typeface="Times New Roman" panose="02020603050405020304" pitchFamily="18" charset="0"/>
              </a:rPr>
              <a:t> -ls /logs/raw and the HDFS web UI (localhost:9870) to confirm files are stored correctly.</a:t>
            </a:r>
          </a:p>
        </p:txBody>
      </p:sp>
      <p:sp>
        <p:nvSpPr>
          <p:cNvPr id="231" name="Google Shape;231;p27"/>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10</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7D3935E9-4FEF-7611-413F-37892BF05E5F}"/>
              </a:ext>
            </a:extLst>
          </p:cNvPr>
          <p:cNvPicPr>
            <a:picLocks/>
          </p:cNvPicPr>
          <p:nvPr/>
        </p:nvPicPr>
        <p:blipFill>
          <a:blip r:embed="rId3"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4DBB7204-5B51-9B47-2BBC-719D29E384DD}"/>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864B8893-8791-8294-0DAC-F6575F5822FE}"/>
              </a:ext>
            </a:extLst>
          </p:cNvPr>
          <p:cNvSpPr>
            <a:spLocks noGrp="1"/>
          </p:cNvSpPr>
          <p:nvPr>
            <p:ph type="dt" idx="10"/>
          </p:nvPr>
        </p:nvSpPr>
        <p:spPr/>
        <p:txBody>
          <a:bodyPr/>
          <a:lstStyle/>
          <a:p>
            <a:fld id="{753C55A6-E0C2-44BD-93D1-2FB5D3B063F5}" type="datetime1">
              <a:rPr lang="en-US" smtClean="0"/>
              <a:t>8/31/2026</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E6807016-2F89-F221-D1F4-90EEDF7A9EC7}"/>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DC8D8770-BEC6-126C-99F4-F15CB71E73A6}"/>
              </a:ext>
            </a:extLst>
          </p:cNvPr>
          <p:cNvSpPr txBox="1">
            <a:spLocks noGrp="1"/>
          </p:cNvSpPr>
          <p:nvPr>
            <p:ph type="title"/>
          </p:nvPr>
        </p:nvSpPr>
        <p:spPr>
          <a:xfrm>
            <a:off x="1808982" y="990610"/>
            <a:ext cx="8774061" cy="544512"/>
          </a:xfrm>
          <a:prstGeom prst="rect">
            <a:avLst/>
          </a:prstGeom>
          <a:noFill/>
          <a:ln>
            <a:noFill/>
          </a:ln>
        </p:spPr>
        <p:txBody>
          <a:bodyPr spcFirstLastPara="1" wrap="square" lIns="91425" tIns="45700" rIns="91425" bIns="45700" anchor="ctr" anchorCtr="0">
            <a:noAutofit/>
          </a:bodyPr>
          <a:lstStyle/>
          <a:p>
            <a:pPr algn="ctr"/>
            <a:r>
              <a:rPr lang="en-IN" sz="3200" b="1" dirty="0">
                <a:latin typeface="Times New Roman" panose="02020603050405020304" pitchFamily="18" charset="0"/>
                <a:cs typeface="Times New Roman" panose="02020603050405020304" pitchFamily="18" charset="0"/>
              </a:rPr>
              <a:t>Module 1: Output</a:t>
            </a:r>
          </a:p>
        </p:txBody>
      </p:sp>
      <p:sp>
        <p:nvSpPr>
          <p:cNvPr id="231" name="Google Shape;231;p27">
            <a:extLst>
              <a:ext uri="{FF2B5EF4-FFF2-40B4-BE49-F238E27FC236}">
                <a16:creationId xmlns:a16="http://schemas.microsoft.com/office/drawing/2014/main" id="{12E93CF2-53F6-2DC4-82BF-074AC3A4088C}"/>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6105FF62-B2BD-9100-777A-C6C53301795D}"/>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11</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A1D2DC78-3E0D-DCD9-A903-5AE4335A670D}"/>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7E42761D-D08D-8C21-A39A-CB11FB08FC0D}"/>
              </a:ext>
            </a:extLst>
          </p:cNvPr>
          <p:cNvPicPr>
            <a:picLocks/>
          </p:cNvPicPr>
          <p:nvPr/>
        </p:nvPicPr>
        <p:blipFill>
          <a:blip r:embed="rId3"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6A462135-A25B-A4A0-3EA9-5484B99B7158}"/>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C5B11CEF-6857-3F2E-0CBC-17407B48CC0A}"/>
              </a:ext>
            </a:extLst>
          </p:cNvPr>
          <p:cNvSpPr>
            <a:spLocks noGrp="1"/>
          </p:cNvSpPr>
          <p:nvPr>
            <p:ph type="dt" idx="10"/>
          </p:nvPr>
        </p:nvSpPr>
        <p:spPr/>
        <p:txBody>
          <a:bodyPr/>
          <a:lstStyle/>
          <a:p>
            <a:fld id="{753C55A6-E0C2-44BD-93D1-2FB5D3B063F5}" type="datetime1">
              <a:rPr lang="en-US" smtClean="0"/>
              <a:t>8/31/2026</a:t>
            </a:fld>
            <a:endParaRPr lang="en-US"/>
          </a:p>
        </p:txBody>
      </p:sp>
      <p:pic>
        <p:nvPicPr>
          <p:cNvPr id="6" name="Picture 5" descr="m1_hdfs_webui.png">
            <a:extLst>
              <a:ext uri="{FF2B5EF4-FFF2-40B4-BE49-F238E27FC236}">
                <a16:creationId xmlns:a16="http://schemas.microsoft.com/office/drawing/2014/main" id="{AB08FCB4-E3B8-6F27-4D49-770993A094B9}"/>
              </a:ext>
            </a:extLst>
          </p:cNvPr>
          <p:cNvPicPr>
            <a:picLocks noChangeAspect="1"/>
          </p:cNvPicPr>
          <p:nvPr/>
        </p:nvPicPr>
        <p:blipFill>
          <a:blip r:embed="rId5"/>
          <a:stretch>
            <a:fillRect/>
          </a:stretch>
        </p:blipFill>
        <p:spPr>
          <a:xfrm>
            <a:off x="974869" y="1603718"/>
            <a:ext cx="6686918" cy="2563319"/>
          </a:xfrm>
          <a:prstGeom prst="rect">
            <a:avLst/>
          </a:prstGeom>
        </p:spPr>
      </p:pic>
      <p:pic>
        <p:nvPicPr>
          <p:cNvPr id="8" name="Picture 7" descr="m1_terminal_put.png">
            <a:extLst>
              <a:ext uri="{FF2B5EF4-FFF2-40B4-BE49-F238E27FC236}">
                <a16:creationId xmlns:a16="http://schemas.microsoft.com/office/drawing/2014/main" id="{55723A08-337F-9DD8-597E-779D9789BCB9}"/>
              </a:ext>
            </a:extLst>
          </p:cNvPr>
          <p:cNvPicPr>
            <a:picLocks noChangeAspect="1"/>
          </p:cNvPicPr>
          <p:nvPr/>
        </p:nvPicPr>
        <p:blipFill>
          <a:blip r:embed="rId6"/>
          <a:stretch>
            <a:fillRect/>
          </a:stretch>
        </p:blipFill>
        <p:spPr>
          <a:xfrm>
            <a:off x="4318328" y="3793032"/>
            <a:ext cx="6507971" cy="2494722"/>
          </a:xfrm>
          <a:prstGeom prst="rect">
            <a:avLst/>
          </a:prstGeom>
        </p:spPr>
      </p:pic>
    </p:spTree>
    <p:extLst>
      <p:ext uri="{BB962C8B-B14F-4D97-AF65-F5344CB8AC3E}">
        <p14:creationId xmlns:p14="http://schemas.microsoft.com/office/powerpoint/2010/main" val="1120481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701F816C-241E-B2CC-241A-5C6DF45D5A7B}"/>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3F22EA6B-5CB7-F86B-FE32-DDE954962181}"/>
              </a:ext>
            </a:extLst>
          </p:cNvPr>
          <p:cNvSpPr txBox="1">
            <a:spLocks noGrp="1"/>
          </p:cNvSpPr>
          <p:nvPr>
            <p:ph type="title"/>
          </p:nvPr>
        </p:nvSpPr>
        <p:spPr>
          <a:xfrm>
            <a:off x="1517087" y="1002890"/>
            <a:ext cx="9357852" cy="901393"/>
          </a:xfrm>
          <a:prstGeom prst="rect">
            <a:avLst/>
          </a:prstGeom>
          <a:noFill/>
          <a:ln>
            <a:noFill/>
          </a:ln>
        </p:spPr>
        <p:txBody>
          <a:bodyPr spcFirstLastPara="1" wrap="square" lIns="91425" tIns="45700" rIns="91425" bIns="45700" anchor="ctr" anchorCtr="0">
            <a:noAutofit/>
          </a:bodyPr>
          <a:lstStyle/>
          <a:p>
            <a:pPr algn="ctr"/>
            <a:r>
              <a:rPr lang="en-IN" sz="3200" b="1" dirty="0">
                <a:latin typeface="Times New Roman" panose="02020603050405020304" pitchFamily="18" charset="0"/>
                <a:cs typeface="Times New Roman" panose="02020603050405020304" pitchFamily="18" charset="0"/>
              </a:rPr>
              <a:t>Module 2: MapReduce-Based Log Parsing and Analysis Engine</a:t>
            </a:r>
          </a:p>
        </p:txBody>
      </p:sp>
      <p:sp>
        <p:nvSpPr>
          <p:cNvPr id="228" name="Google Shape;228;p27">
            <a:extLst>
              <a:ext uri="{FF2B5EF4-FFF2-40B4-BE49-F238E27FC236}">
                <a16:creationId xmlns:a16="http://schemas.microsoft.com/office/drawing/2014/main" id="{2327D223-E3C5-08F5-C5C6-827EC042976B}"/>
              </a:ext>
            </a:extLst>
          </p:cNvPr>
          <p:cNvSpPr txBox="1">
            <a:spLocks noGrp="1"/>
          </p:cNvSpPr>
          <p:nvPr>
            <p:ph type="body" idx="1"/>
          </p:nvPr>
        </p:nvSpPr>
        <p:spPr>
          <a:xfrm>
            <a:off x="393289" y="1982173"/>
            <a:ext cx="11225981" cy="4351337"/>
          </a:xfrm>
          <a:prstGeom prst="rect">
            <a:avLst/>
          </a:prstGeom>
          <a:noFill/>
          <a:ln>
            <a:noFill/>
          </a:ln>
        </p:spPr>
        <p:txBody>
          <a:bodyPr spcFirstLastPara="1" wrap="square" lIns="91425" tIns="45700" rIns="91425" bIns="45700" anchor="t" anchorCtr="0">
            <a:noAutofit/>
          </a:bodyPr>
          <a:lstStyle/>
          <a:p>
            <a:pPr lvl="0"/>
            <a:r>
              <a:rPr lang="en-IN" sz="2400" dirty="0">
                <a:latin typeface="Times New Roman" panose="02020603050405020304" pitchFamily="18" charset="0"/>
                <a:cs typeface="Times New Roman" panose="02020603050405020304" pitchFamily="18" charset="0"/>
              </a:rPr>
              <a:t>Reads raw logs from HDFS and extracts key fields from each entry.</a:t>
            </a:r>
          </a:p>
          <a:p>
            <a:pPr lvl="0"/>
            <a:r>
              <a:rPr lang="en-IN" sz="2400" dirty="0">
                <a:latin typeface="Times New Roman" panose="02020603050405020304" pitchFamily="18" charset="0"/>
                <a:cs typeface="Times New Roman" panose="02020603050405020304" pitchFamily="18" charset="0"/>
              </a:rPr>
              <a:t>Map phase processes chunks of data in parallel across the cluster.</a:t>
            </a:r>
          </a:p>
          <a:p>
            <a:pPr lvl="0"/>
            <a:r>
              <a:rPr lang="en-IN" sz="2400" dirty="0">
                <a:latin typeface="Times New Roman" panose="02020603050405020304" pitchFamily="18" charset="0"/>
                <a:cs typeface="Times New Roman" panose="02020603050405020304" pitchFamily="18" charset="0"/>
              </a:rPr>
              <a:t>Reduce phase combines results into totals — e.g. requests per IP, counts per status code.</a:t>
            </a:r>
          </a:p>
          <a:p>
            <a:pPr lvl="0"/>
            <a:r>
              <a:rPr lang="en-IN" sz="2400" dirty="0">
                <a:latin typeface="Times New Roman" panose="02020603050405020304" pitchFamily="18" charset="0"/>
                <a:cs typeface="Times New Roman" panose="02020603050405020304" pitchFamily="18" charset="0"/>
              </a:rPr>
              <a:t>Runs much faster than single-machine processing, and scales as data grows.</a:t>
            </a:r>
          </a:p>
          <a:p>
            <a:r>
              <a:rPr lang="en-IN" sz="2400" dirty="0">
                <a:latin typeface="Times New Roman" panose="02020603050405020304" pitchFamily="18" charset="0"/>
                <a:cs typeface="Times New Roman" panose="02020603050405020304" pitchFamily="18" charset="0"/>
              </a:rPr>
              <a:t>Scales naturally as data grows — the same logic works whether processing a small test file or a much larger dataset spread across many nodes, without needing to change the underlying approach.</a:t>
            </a:r>
          </a:p>
          <a:p>
            <a:pPr lvl="0"/>
            <a:endParaRPr lang="en-IN" sz="2400" dirty="0">
              <a:latin typeface="Times New Roman" panose="02020603050405020304" pitchFamily="18" charset="0"/>
              <a:cs typeface="Times New Roman" panose="02020603050405020304" pitchFamily="18" charset="0"/>
            </a:endParaRPr>
          </a:p>
        </p:txBody>
      </p:sp>
      <p:sp>
        <p:nvSpPr>
          <p:cNvPr id="231" name="Google Shape;231;p27">
            <a:extLst>
              <a:ext uri="{FF2B5EF4-FFF2-40B4-BE49-F238E27FC236}">
                <a16:creationId xmlns:a16="http://schemas.microsoft.com/office/drawing/2014/main" id="{5D48B972-9EA5-0B07-B768-EA84A3CCDC72}"/>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E85F8DD5-2C99-4E61-4447-7512D68606E1}"/>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12</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FA884638-AFE9-99BA-B7C9-8F73AA967EFC}"/>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5" name="Image 3">
            <a:extLst>
              <a:ext uri="{FF2B5EF4-FFF2-40B4-BE49-F238E27FC236}">
                <a16:creationId xmlns:a16="http://schemas.microsoft.com/office/drawing/2014/main" id="{53BB8739-20D5-832A-B8D1-8A0A557EDDDF}"/>
              </a:ext>
            </a:extLst>
          </p:cNvPr>
          <p:cNvPicPr>
            <a:picLocks/>
          </p:cNvPicPr>
          <p:nvPr/>
        </p:nvPicPr>
        <p:blipFill>
          <a:blip r:embed="rId3" cstate="print"/>
          <a:stretch>
            <a:fillRect/>
          </a:stretch>
        </p:blipFill>
        <p:spPr>
          <a:xfrm>
            <a:off x="10715625" y="152400"/>
            <a:ext cx="1181100" cy="1110466"/>
          </a:xfrm>
          <a:prstGeom prst="rect">
            <a:avLst/>
          </a:prstGeom>
        </p:spPr>
      </p:pic>
      <p:pic>
        <p:nvPicPr>
          <p:cNvPr id="7" name="Image 6">
            <a:extLst>
              <a:ext uri="{FF2B5EF4-FFF2-40B4-BE49-F238E27FC236}">
                <a16:creationId xmlns:a16="http://schemas.microsoft.com/office/drawing/2014/main" id="{86D5D122-2F86-9B49-C644-2108D71A133E}"/>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767D7EE6-8428-17A4-0AC6-D126909CF377}"/>
              </a:ext>
            </a:extLst>
          </p:cNvPr>
          <p:cNvSpPr>
            <a:spLocks noGrp="1"/>
          </p:cNvSpPr>
          <p:nvPr>
            <p:ph type="dt" idx="10"/>
          </p:nvPr>
        </p:nvSpPr>
        <p:spPr/>
        <p:txBody>
          <a:bodyPr/>
          <a:lstStyle/>
          <a:p>
            <a:fld id="{D3CA9398-8291-4032-BE3B-D57CD57151A8}" type="datetime1">
              <a:rPr lang="en-US" smtClean="0"/>
              <a:t>8/31/2026</a:t>
            </a:fld>
            <a:endParaRPr lang="en-US"/>
          </a:p>
        </p:txBody>
      </p:sp>
    </p:spTree>
    <p:extLst>
      <p:ext uri="{BB962C8B-B14F-4D97-AF65-F5344CB8AC3E}">
        <p14:creationId xmlns:p14="http://schemas.microsoft.com/office/powerpoint/2010/main" val="2237425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77B77699-59EB-44C8-945C-8957E136131D}"/>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221FA6F9-1ED7-5AD3-32D8-AACAC3F155A4}"/>
              </a:ext>
            </a:extLst>
          </p:cNvPr>
          <p:cNvSpPr txBox="1">
            <a:spLocks noGrp="1"/>
          </p:cNvSpPr>
          <p:nvPr>
            <p:ph type="title"/>
          </p:nvPr>
        </p:nvSpPr>
        <p:spPr>
          <a:xfrm>
            <a:off x="1517087" y="1002890"/>
            <a:ext cx="9357852" cy="901393"/>
          </a:xfrm>
          <a:prstGeom prst="rect">
            <a:avLst/>
          </a:prstGeom>
          <a:noFill/>
          <a:ln>
            <a:noFill/>
          </a:ln>
        </p:spPr>
        <p:txBody>
          <a:bodyPr spcFirstLastPara="1" wrap="square" lIns="91425" tIns="45700" rIns="91425" bIns="45700" anchor="ctr" anchorCtr="0">
            <a:noAutofit/>
          </a:bodyPr>
          <a:lstStyle/>
          <a:p>
            <a:pPr algn="ctr"/>
            <a:r>
              <a:rPr lang="en-IN" sz="3200" b="1" dirty="0">
                <a:latin typeface="Times New Roman" panose="02020603050405020304" pitchFamily="18" charset="0"/>
                <a:cs typeface="Times New Roman" panose="02020603050405020304" pitchFamily="18" charset="0"/>
              </a:rPr>
              <a:t>Module 2: Output</a:t>
            </a:r>
          </a:p>
        </p:txBody>
      </p:sp>
      <p:sp>
        <p:nvSpPr>
          <p:cNvPr id="231" name="Google Shape;231;p27">
            <a:extLst>
              <a:ext uri="{FF2B5EF4-FFF2-40B4-BE49-F238E27FC236}">
                <a16:creationId xmlns:a16="http://schemas.microsoft.com/office/drawing/2014/main" id="{96B27F15-FC8F-08FC-DDA5-CFFEF687D988}"/>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8AC449CA-DFD9-2AE2-FB84-027F9F38B689}"/>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13</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178B6362-AE5E-766B-27F6-3FDBD295D5EC}"/>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5" name="Image 3">
            <a:extLst>
              <a:ext uri="{FF2B5EF4-FFF2-40B4-BE49-F238E27FC236}">
                <a16:creationId xmlns:a16="http://schemas.microsoft.com/office/drawing/2014/main" id="{11334A4F-980D-EB36-20CC-DA3667F1B357}"/>
              </a:ext>
            </a:extLst>
          </p:cNvPr>
          <p:cNvPicPr>
            <a:picLocks/>
          </p:cNvPicPr>
          <p:nvPr/>
        </p:nvPicPr>
        <p:blipFill>
          <a:blip r:embed="rId3" cstate="print"/>
          <a:stretch>
            <a:fillRect/>
          </a:stretch>
        </p:blipFill>
        <p:spPr>
          <a:xfrm>
            <a:off x="10715625" y="152400"/>
            <a:ext cx="1181100" cy="1110466"/>
          </a:xfrm>
          <a:prstGeom prst="rect">
            <a:avLst/>
          </a:prstGeom>
        </p:spPr>
      </p:pic>
      <p:pic>
        <p:nvPicPr>
          <p:cNvPr id="7" name="Image 6">
            <a:extLst>
              <a:ext uri="{FF2B5EF4-FFF2-40B4-BE49-F238E27FC236}">
                <a16:creationId xmlns:a16="http://schemas.microsoft.com/office/drawing/2014/main" id="{B4A3315F-BC81-6008-8868-32AD747FF0FD}"/>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A0EDFC53-4111-9B28-5E16-664E349967D0}"/>
              </a:ext>
            </a:extLst>
          </p:cNvPr>
          <p:cNvSpPr>
            <a:spLocks noGrp="1"/>
          </p:cNvSpPr>
          <p:nvPr>
            <p:ph type="dt" idx="10"/>
          </p:nvPr>
        </p:nvSpPr>
        <p:spPr/>
        <p:txBody>
          <a:bodyPr/>
          <a:lstStyle/>
          <a:p>
            <a:fld id="{D3CA9398-8291-4032-BE3B-D57CD57151A8}" type="datetime1">
              <a:rPr lang="en-US" smtClean="0"/>
              <a:t>8/31/2026</a:t>
            </a:fld>
            <a:endParaRPr lang="en-US"/>
          </a:p>
        </p:txBody>
      </p:sp>
      <p:pic>
        <p:nvPicPr>
          <p:cNvPr id="4" name="Picture 3" descr="m2_mapreduce_job.png">
            <a:extLst>
              <a:ext uri="{FF2B5EF4-FFF2-40B4-BE49-F238E27FC236}">
                <a16:creationId xmlns:a16="http://schemas.microsoft.com/office/drawing/2014/main" id="{8D48B550-0424-9129-84AB-7400169424CE}"/>
              </a:ext>
            </a:extLst>
          </p:cNvPr>
          <p:cNvPicPr>
            <a:picLocks noChangeAspect="1"/>
          </p:cNvPicPr>
          <p:nvPr/>
        </p:nvPicPr>
        <p:blipFill>
          <a:blip r:embed="rId5"/>
          <a:stretch>
            <a:fillRect/>
          </a:stretch>
        </p:blipFill>
        <p:spPr>
          <a:xfrm>
            <a:off x="1131132" y="2349247"/>
            <a:ext cx="5131249" cy="1892674"/>
          </a:xfrm>
          <a:prstGeom prst="rect">
            <a:avLst/>
          </a:prstGeom>
        </p:spPr>
      </p:pic>
      <p:pic>
        <p:nvPicPr>
          <p:cNvPr id="8" name="Picture 7" descr="m2_cat_output.png">
            <a:extLst>
              <a:ext uri="{FF2B5EF4-FFF2-40B4-BE49-F238E27FC236}">
                <a16:creationId xmlns:a16="http://schemas.microsoft.com/office/drawing/2014/main" id="{9F1581ED-216C-4CEE-6966-40951603A3FA}"/>
              </a:ext>
            </a:extLst>
          </p:cNvPr>
          <p:cNvPicPr>
            <a:picLocks noChangeAspect="1"/>
          </p:cNvPicPr>
          <p:nvPr/>
        </p:nvPicPr>
        <p:blipFill>
          <a:blip r:embed="rId6"/>
          <a:stretch>
            <a:fillRect/>
          </a:stretch>
        </p:blipFill>
        <p:spPr>
          <a:xfrm>
            <a:off x="6262381" y="2349247"/>
            <a:ext cx="5131249" cy="1892674"/>
          </a:xfrm>
          <a:prstGeom prst="rect">
            <a:avLst/>
          </a:prstGeom>
        </p:spPr>
      </p:pic>
      <p:sp>
        <p:nvSpPr>
          <p:cNvPr id="10" name="TextBox 9">
            <a:extLst>
              <a:ext uri="{FF2B5EF4-FFF2-40B4-BE49-F238E27FC236}">
                <a16:creationId xmlns:a16="http://schemas.microsoft.com/office/drawing/2014/main" id="{59CC013B-F2DD-6729-3E68-CA2B32BE0A81}"/>
              </a:ext>
            </a:extLst>
          </p:cNvPr>
          <p:cNvSpPr txBox="1"/>
          <p:nvPr/>
        </p:nvSpPr>
        <p:spPr>
          <a:xfrm>
            <a:off x="1548581" y="4543977"/>
            <a:ext cx="9094838" cy="1477328"/>
          </a:xfrm>
          <a:prstGeom prst="rect">
            <a:avLst/>
          </a:prstGeom>
          <a:noFill/>
        </p:spPr>
        <p:txBody>
          <a:bodyPr wrap="square">
            <a:spAutoFit/>
          </a:bodyPr>
          <a:lstStyle/>
          <a:p>
            <a:pPr marL="457200" indent="-457200">
              <a:buFont typeface="Arial"/>
              <a:buChar char="•"/>
            </a:pPr>
            <a:r>
              <a:rPr lang="en-US" sz="1500" dirty="0">
                <a:solidFill>
                  <a:srgbClr val="1A1A1A"/>
                </a:solidFill>
                <a:latin typeface="Times New Roman"/>
              </a:rPr>
              <a:t>MapReduce job completed in ~68 s processing 58,420 log lines (1,247 unique keys output); Map 100% → Reduce 100% confirmed</a:t>
            </a:r>
          </a:p>
          <a:p>
            <a:pPr marL="457200" indent="-457200">
              <a:buFont typeface="Arial"/>
              <a:buChar char="•"/>
            </a:pPr>
            <a:r>
              <a:rPr lang="en-US" sz="1500" dirty="0">
                <a:solidFill>
                  <a:srgbClr val="1A1A1A"/>
                </a:solidFill>
                <a:latin typeface="Times New Roman"/>
              </a:rPr>
              <a:t>Most frequent HTTP status: 200 OK (42,317 hits, 72.3% of traffic) — indicating healthy overall traffic; 404 errors: 8,103</a:t>
            </a:r>
          </a:p>
          <a:p>
            <a:pPr marL="457200" indent="-457200">
              <a:buFont typeface="Arial"/>
              <a:buChar char="•"/>
            </a:pPr>
            <a:r>
              <a:rPr lang="en-US" sz="1500" dirty="0">
                <a:solidFill>
                  <a:srgbClr val="1A1A1A"/>
                </a:solidFill>
                <a:latin typeface="Times New Roman"/>
              </a:rPr>
              <a:t>Top IP address: 192.168.1.45 (3,842 requests); most requested path: /index.html (18,450 hits), followed by /</a:t>
            </a:r>
            <a:r>
              <a:rPr lang="en-US" sz="1500" dirty="0" err="1">
                <a:solidFill>
                  <a:srgbClr val="1A1A1A"/>
                </a:solidFill>
                <a:latin typeface="Times New Roman"/>
              </a:rPr>
              <a:t>api</a:t>
            </a:r>
            <a:r>
              <a:rPr lang="en-US" sz="1500" dirty="0">
                <a:solidFill>
                  <a:srgbClr val="1A1A1A"/>
                </a:solidFill>
                <a:latin typeface="Times New Roman"/>
              </a:rPr>
              <a:t>/data (12,334)</a:t>
            </a:r>
          </a:p>
        </p:txBody>
      </p:sp>
    </p:spTree>
    <p:extLst>
      <p:ext uri="{BB962C8B-B14F-4D97-AF65-F5344CB8AC3E}">
        <p14:creationId xmlns:p14="http://schemas.microsoft.com/office/powerpoint/2010/main" val="3850727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68539D77-4AC4-FB67-7EC4-46EB5128A496}"/>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3C66908A-A552-4A5E-36FB-3A3E8E74C299}"/>
              </a:ext>
            </a:extLst>
          </p:cNvPr>
          <p:cNvSpPr txBox="1">
            <a:spLocks noGrp="1"/>
          </p:cNvSpPr>
          <p:nvPr>
            <p:ph type="title"/>
          </p:nvPr>
        </p:nvSpPr>
        <p:spPr>
          <a:xfrm>
            <a:off x="1257300" y="1064616"/>
            <a:ext cx="9677400" cy="871896"/>
          </a:xfrm>
          <a:prstGeom prst="rect">
            <a:avLst/>
          </a:prstGeom>
          <a:noFill/>
          <a:ln>
            <a:noFill/>
          </a:ln>
        </p:spPr>
        <p:txBody>
          <a:bodyPr spcFirstLastPara="1" wrap="square" lIns="91425" tIns="45700" rIns="91425" bIns="45700" anchor="ctr" anchorCtr="0">
            <a:noAutofit/>
          </a:bodyPr>
          <a:lstStyle/>
          <a:p>
            <a:pPr algn="ctr"/>
            <a:r>
              <a:rPr lang="en-IN" sz="3200" b="1" dirty="0">
                <a:latin typeface="Times New Roman" panose="02020603050405020304" pitchFamily="18" charset="0"/>
                <a:cs typeface="Times New Roman" panose="02020603050405020304" pitchFamily="18" charset="0"/>
              </a:rPr>
              <a:t>Module 3: Result Aggregation &amp; Visualization Dashboard</a:t>
            </a:r>
          </a:p>
        </p:txBody>
      </p:sp>
      <p:sp>
        <p:nvSpPr>
          <p:cNvPr id="228" name="Google Shape;228;p27">
            <a:extLst>
              <a:ext uri="{FF2B5EF4-FFF2-40B4-BE49-F238E27FC236}">
                <a16:creationId xmlns:a16="http://schemas.microsoft.com/office/drawing/2014/main" id="{0316929A-C494-16DF-20FE-F742AEF47B12}"/>
              </a:ext>
            </a:extLst>
          </p:cNvPr>
          <p:cNvSpPr txBox="1">
            <a:spLocks noGrp="1"/>
          </p:cNvSpPr>
          <p:nvPr>
            <p:ph type="body" idx="1"/>
          </p:nvPr>
        </p:nvSpPr>
        <p:spPr>
          <a:xfrm>
            <a:off x="560437" y="2220743"/>
            <a:ext cx="11225981" cy="4351337"/>
          </a:xfrm>
          <a:prstGeom prst="rect">
            <a:avLst/>
          </a:prstGeom>
          <a:noFill/>
          <a:ln>
            <a:noFill/>
          </a:ln>
        </p:spPr>
        <p:txBody>
          <a:bodyPr spcFirstLastPara="1" wrap="square" lIns="91425" tIns="45700" rIns="91425" bIns="45700" anchor="t" anchorCtr="0">
            <a:noAutofit/>
          </a:bodyPr>
          <a:lstStyle/>
          <a:p>
            <a:pPr lvl="0"/>
            <a:r>
              <a:rPr lang="en-IN" sz="2400" dirty="0">
                <a:latin typeface="Times New Roman" panose="02020603050405020304" pitchFamily="18" charset="0"/>
                <a:cs typeface="Times New Roman" panose="02020603050405020304" pitchFamily="18" charset="0"/>
              </a:rPr>
              <a:t>Pulls MapReduce output from HDFS into a single file using hdfs </a:t>
            </a:r>
            <a:r>
              <a:rPr lang="en-IN" sz="2400" dirty="0" err="1">
                <a:latin typeface="Times New Roman" panose="02020603050405020304" pitchFamily="18" charset="0"/>
                <a:cs typeface="Times New Roman" panose="02020603050405020304" pitchFamily="18" charset="0"/>
              </a:rPr>
              <a:t>dfs</a:t>
            </a:r>
            <a:r>
              <a:rPr lang="en-IN" sz="2400" dirty="0">
                <a:latin typeface="Times New Roman" panose="02020603050405020304" pitchFamily="18" charset="0"/>
                <a:cs typeface="Times New Roman" panose="02020603050405020304" pitchFamily="18" charset="0"/>
              </a:rPr>
              <a:t> -getmerge /logs/analysis_output/ results.tsv.</a:t>
            </a:r>
          </a:p>
          <a:p>
            <a:pPr lvl="0"/>
            <a:r>
              <a:rPr lang="en-IN" sz="2400" dirty="0">
                <a:latin typeface="Times New Roman" panose="02020603050405020304" pitchFamily="18" charset="0"/>
                <a:cs typeface="Times New Roman" panose="02020603050405020304" pitchFamily="18" charset="0"/>
              </a:rPr>
              <a:t>Loads the aggregated results into a structured database (SQLite) for easy querying.</a:t>
            </a:r>
          </a:p>
          <a:p>
            <a:pPr lvl="0"/>
            <a:r>
              <a:rPr lang="en-IN" sz="2400" dirty="0">
                <a:latin typeface="Times New Roman" panose="02020603050405020304" pitchFamily="18" charset="0"/>
                <a:cs typeface="Times New Roman" panose="02020603050405020304" pitchFamily="18" charset="0"/>
              </a:rPr>
              <a:t>Builds an interactive dashboard using Streamlit and Plotly, with charts for status codes, top IPs, and top requested paths.</a:t>
            </a:r>
          </a:p>
          <a:p>
            <a:pPr lvl="0"/>
            <a:r>
              <a:rPr lang="en-IN" sz="2400" dirty="0">
                <a:latin typeface="Times New Roman" panose="02020603050405020304" pitchFamily="18" charset="0"/>
                <a:cs typeface="Times New Roman" panose="02020603050405020304" pitchFamily="18" charset="0"/>
              </a:rPr>
              <a:t>Launched with streamlit run dashboard.py --server.address 0.0.0.0, viewable in a browser to visually interpret patterns like error spikes or popular pages.</a:t>
            </a:r>
          </a:p>
        </p:txBody>
      </p:sp>
      <p:sp>
        <p:nvSpPr>
          <p:cNvPr id="231" name="Google Shape;231;p27">
            <a:extLst>
              <a:ext uri="{FF2B5EF4-FFF2-40B4-BE49-F238E27FC236}">
                <a16:creationId xmlns:a16="http://schemas.microsoft.com/office/drawing/2014/main" id="{A682AA15-82A6-41C5-C4EB-0E2B51DAF76F}"/>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29BF9FC7-2B62-396E-42D4-4F25898772B2}"/>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14</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0CAD7D67-BE91-04D2-CA76-70DBC67B1B1C}"/>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1C20F934-2A13-8D66-BEDF-D92A190364B1}"/>
              </a:ext>
            </a:extLst>
          </p:cNvPr>
          <p:cNvPicPr>
            <a:picLocks/>
          </p:cNvPicPr>
          <p:nvPr/>
        </p:nvPicPr>
        <p:blipFill>
          <a:blip r:embed="rId3"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2E257B10-25E0-135F-072A-8B0D265ED9C4}"/>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DC1DEFA8-E6DB-43A9-91F5-C0980F1A1A3E}"/>
              </a:ext>
            </a:extLst>
          </p:cNvPr>
          <p:cNvSpPr>
            <a:spLocks noGrp="1"/>
          </p:cNvSpPr>
          <p:nvPr>
            <p:ph type="dt" idx="10"/>
          </p:nvPr>
        </p:nvSpPr>
        <p:spPr/>
        <p:txBody>
          <a:bodyPr/>
          <a:lstStyle/>
          <a:p>
            <a:fld id="{75739AD7-8674-49C1-9320-978C2F64D534}" type="datetime1">
              <a:rPr lang="en-US" smtClean="0"/>
              <a:t>8/31/2026</a:t>
            </a:fld>
            <a:endParaRPr lang="en-US"/>
          </a:p>
        </p:txBody>
      </p:sp>
    </p:spTree>
    <p:extLst>
      <p:ext uri="{BB962C8B-B14F-4D97-AF65-F5344CB8AC3E}">
        <p14:creationId xmlns:p14="http://schemas.microsoft.com/office/powerpoint/2010/main" val="1101777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CC926BCE-D38C-146D-A9BE-5225330FDBCC}"/>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9DB5A089-AEAD-0729-A729-E94F2904FF47}"/>
              </a:ext>
            </a:extLst>
          </p:cNvPr>
          <p:cNvSpPr txBox="1">
            <a:spLocks noGrp="1"/>
          </p:cNvSpPr>
          <p:nvPr>
            <p:ph type="title"/>
          </p:nvPr>
        </p:nvSpPr>
        <p:spPr>
          <a:xfrm>
            <a:off x="1257300" y="1064616"/>
            <a:ext cx="9677400" cy="871896"/>
          </a:xfrm>
          <a:prstGeom prst="rect">
            <a:avLst/>
          </a:prstGeom>
          <a:noFill/>
          <a:ln>
            <a:noFill/>
          </a:ln>
        </p:spPr>
        <p:txBody>
          <a:bodyPr spcFirstLastPara="1" wrap="square" lIns="91425" tIns="45700" rIns="91425" bIns="45700" anchor="ctr" anchorCtr="0">
            <a:noAutofit/>
          </a:bodyPr>
          <a:lstStyle/>
          <a:p>
            <a:pPr algn="ctr"/>
            <a:r>
              <a:rPr lang="en-IN" sz="3200" b="1" dirty="0">
                <a:latin typeface="Times New Roman" panose="02020603050405020304" pitchFamily="18" charset="0"/>
                <a:cs typeface="Times New Roman" panose="02020603050405020304" pitchFamily="18" charset="0"/>
              </a:rPr>
              <a:t>Module 3: Dashboard</a:t>
            </a:r>
          </a:p>
        </p:txBody>
      </p:sp>
      <p:sp>
        <p:nvSpPr>
          <p:cNvPr id="231" name="Google Shape;231;p27">
            <a:extLst>
              <a:ext uri="{FF2B5EF4-FFF2-40B4-BE49-F238E27FC236}">
                <a16:creationId xmlns:a16="http://schemas.microsoft.com/office/drawing/2014/main" id="{8ED4601F-7E6E-E892-D59C-423982E926F7}"/>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41791451-E550-1709-9E60-8D8355CCEF09}"/>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15</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D372EEE0-8744-68BB-B11A-8BE5B5614CDC}"/>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675A2EA4-DF53-79F0-4489-B8286036B992}"/>
              </a:ext>
            </a:extLst>
          </p:cNvPr>
          <p:cNvPicPr>
            <a:picLocks/>
          </p:cNvPicPr>
          <p:nvPr/>
        </p:nvPicPr>
        <p:blipFill>
          <a:blip r:embed="rId3"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51214352-6F2F-637E-B0E2-CC5B1C33EF3C}"/>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182C90AD-23AF-19EE-466E-9A20CA893201}"/>
              </a:ext>
            </a:extLst>
          </p:cNvPr>
          <p:cNvSpPr>
            <a:spLocks noGrp="1"/>
          </p:cNvSpPr>
          <p:nvPr>
            <p:ph type="dt" idx="10"/>
          </p:nvPr>
        </p:nvSpPr>
        <p:spPr/>
        <p:txBody>
          <a:bodyPr/>
          <a:lstStyle/>
          <a:p>
            <a:fld id="{75739AD7-8674-49C1-9320-978C2F64D534}" type="datetime1">
              <a:rPr lang="en-US" smtClean="0"/>
              <a:t>8/31/2026</a:t>
            </a:fld>
            <a:endParaRPr lang="en-US"/>
          </a:p>
        </p:txBody>
      </p:sp>
      <p:pic>
        <p:nvPicPr>
          <p:cNvPr id="6" name="Picture 5" descr="m3_dashboard.png">
            <a:extLst>
              <a:ext uri="{FF2B5EF4-FFF2-40B4-BE49-F238E27FC236}">
                <a16:creationId xmlns:a16="http://schemas.microsoft.com/office/drawing/2014/main" id="{29D7C455-16F3-13A7-0E74-A1C0B874E070}"/>
              </a:ext>
            </a:extLst>
          </p:cNvPr>
          <p:cNvPicPr>
            <a:picLocks noChangeAspect="1"/>
          </p:cNvPicPr>
          <p:nvPr/>
        </p:nvPicPr>
        <p:blipFill>
          <a:blip r:embed="rId5"/>
          <a:stretch>
            <a:fillRect/>
          </a:stretch>
        </p:blipFill>
        <p:spPr>
          <a:xfrm>
            <a:off x="994296" y="2094271"/>
            <a:ext cx="10453688" cy="3923071"/>
          </a:xfrm>
          <a:prstGeom prst="rect">
            <a:avLst/>
          </a:prstGeom>
        </p:spPr>
      </p:pic>
    </p:spTree>
    <p:extLst>
      <p:ext uri="{BB962C8B-B14F-4D97-AF65-F5344CB8AC3E}">
        <p14:creationId xmlns:p14="http://schemas.microsoft.com/office/powerpoint/2010/main" val="25214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3F29BD74-A1BF-038B-2DDE-5E4FADA6A9FA}"/>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E641A733-81C6-469A-518C-343477DE02F1}"/>
              </a:ext>
            </a:extLst>
          </p:cNvPr>
          <p:cNvSpPr txBox="1">
            <a:spLocks noGrp="1"/>
          </p:cNvSpPr>
          <p:nvPr>
            <p:ph type="title"/>
          </p:nvPr>
        </p:nvSpPr>
        <p:spPr>
          <a:xfrm>
            <a:off x="1257300" y="895419"/>
            <a:ext cx="9677400" cy="871896"/>
          </a:xfrm>
          <a:prstGeom prst="rect">
            <a:avLst/>
          </a:prstGeom>
          <a:noFill/>
          <a:ln>
            <a:noFill/>
          </a:ln>
        </p:spPr>
        <p:txBody>
          <a:bodyPr spcFirstLastPara="1" wrap="square" lIns="91425" tIns="45700" rIns="91425" bIns="45700" anchor="ctr" anchorCtr="0">
            <a:noAutofit/>
          </a:bodyPr>
          <a:lstStyle/>
          <a:p>
            <a:pPr algn="ctr"/>
            <a:r>
              <a:rPr lang="en-US" sz="3600" b="1" dirty="0">
                <a:latin typeface="Times New Roman" panose="02020603050405020304" pitchFamily="18" charset="0"/>
                <a:cs typeface="Times New Roman" panose="02020603050405020304" pitchFamily="18" charset="0"/>
              </a:rPr>
              <a:t>Limitations</a:t>
            </a:r>
            <a:endParaRPr lang="en-IN" sz="3600" b="1" dirty="0">
              <a:latin typeface="Times New Roman" panose="02020603050405020304" pitchFamily="18" charset="0"/>
              <a:cs typeface="Times New Roman" panose="02020603050405020304" pitchFamily="18" charset="0"/>
            </a:endParaRPr>
          </a:p>
        </p:txBody>
      </p:sp>
      <p:sp>
        <p:nvSpPr>
          <p:cNvPr id="228" name="Google Shape;228;p27">
            <a:extLst>
              <a:ext uri="{FF2B5EF4-FFF2-40B4-BE49-F238E27FC236}">
                <a16:creationId xmlns:a16="http://schemas.microsoft.com/office/drawing/2014/main" id="{0B800504-661F-2AB2-527A-03E27B15F1E5}"/>
              </a:ext>
            </a:extLst>
          </p:cNvPr>
          <p:cNvSpPr txBox="1">
            <a:spLocks noGrp="1"/>
          </p:cNvSpPr>
          <p:nvPr>
            <p:ph type="body" idx="1"/>
          </p:nvPr>
        </p:nvSpPr>
        <p:spPr>
          <a:xfrm>
            <a:off x="838200" y="2025445"/>
            <a:ext cx="10781070" cy="4308065"/>
          </a:xfrm>
          <a:prstGeom prst="rect">
            <a:avLst/>
          </a:prstGeom>
          <a:noFill/>
          <a:ln>
            <a:noFill/>
          </a:ln>
        </p:spPr>
        <p:txBody>
          <a:bodyPr spcFirstLastPara="1" wrap="square" lIns="91425" tIns="45700" rIns="91425" bIns="45700" anchor="t" anchorCtr="0">
            <a:noAutofit/>
          </a:bodyPr>
          <a:lstStyle/>
          <a:p>
            <a:pPr indent="-457200"/>
            <a:r>
              <a:rPr lang="en-US" sz="1800" dirty="0">
                <a:solidFill>
                  <a:srgbClr val="1A1A1A"/>
                </a:solidFill>
                <a:latin typeface="Times New Roman"/>
              </a:rPr>
              <a:t>Single-node / pseudo-distributed setup: runs all Hadoop daemons on one machine — not a true multi-node cluster, so inter-node network and data locality benefits are not tested</a:t>
            </a:r>
          </a:p>
          <a:p>
            <a:pPr indent="-457200"/>
            <a:r>
              <a:rPr lang="en-US" sz="1800" dirty="0">
                <a:solidFill>
                  <a:srgbClr val="1A1A1A"/>
                </a:solidFill>
                <a:latin typeface="Times New Roman"/>
              </a:rPr>
              <a:t>Synthetic / small-scale dataset: the ≈5.8 MB test dataset does not capture the complexity or skew of real-world production traffic (which can be TB-scale)</a:t>
            </a:r>
          </a:p>
          <a:p>
            <a:pPr indent="-457200"/>
            <a:r>
              <a:rPr lang="en-US" sz="1800" dirty="0">
                <a:solidFill>
                  <a:srgbClr val="1A1A1A"/>
                </a:solidFill>
                <a:latin typeface="Times New Roman"/>
              </a:rPr>
              <a:t>Batch processing only: the pipeline processes data in periodic batches; there is no real-time or streaming analysis (e.g., Apache Kafka + Spark Streaming)</a:t>
            </a:r>
          </a:p>
          <a:p>
            <a:pPr indent="-457200"/>
            <a:r>
              <a:rPr lang="en-US" sz="1800" dirty="0">
                <a:solidFill>
                  <a:srgbClr val="1A1A1A"/>
                </a:solidFill>
                <a:latin typeface="Times New Roman"/>
              </a:rPr>
              <a:t>No fault-tolerance testing: </a:t>
            </a:r>
            <a:r>
              <a:rPr lang="en-US" sz="1800" dirty="0" err="1">
                <a:solidFill>
                  <a:srgbClr val="1A1A1A"/>
                </a:solidFill>
                <a:latin typeface="Times New Roman"/>
              </a:rPr>
              <a:t>DataNode</a:t>
            </a:r>
            <a:r>
              <a:rPr lang="en-US" sz="1800" dirty="0">
                <a:solidFill>
                  <a:srgbClr val="1A1A1A"/>
                </a:solidFill>
                <a:latin typeface="Times New Roman"/>
              </a:rPr>
              <a:t> or </a:t>
            </a:r>
            <a:r>
              <a:rPr lang="en-US" sz="1800" dirty="0" err="1">
                <a:solidFill>
                  <a:srgbClr val="1A1A1A"/>
                </a:solidFill>
                <a:latin typeface="Times New Roman"/>
              </a:rPr>
              <a:t>TaskTracker</a:t>
            </a:r>
            <a:r>
              <a:rPr lang="en-US" sz="1800" dirty="0">
                <a:solidFill>
                  <a:srgbClr val="1A1A1A"/>
                </a:solidFill>
                <a:latin typeface="Times New Roman"/>
              </a:rPr>
              <a:t> failure scenarios were not simulated to verify HDFS replication and job re-execution</a:t>
            </a:r>
          </a:p>
          <a:p>
            <a:pPr indent="-457200"/>
            <a:r>
              <a:rPr lang="en-US" sz="1800" dirty="0">
                <a:solidFill>
                  <a:srgbClr val="1A1A1A"/>
                </a:solidFill>
                <a:latin typeface="Times New Roman"/>
              </a:rPr>
              <a:t>MapReduce I/O overhead: MapReduce writes intermediate results to disk between Map and Reduce phases, making it significantly slower than in-memory engines such as Apache Spark</a:t>
            </a:r>
          </a:p>
        </p:txBody>
      </p:sp>
      <p:sp>
        <p:nvSpPr>
          <p:cNvPr id="231" name="Google Shape;231;p27">
            <a:extLst>
              <a:ext uri="{FF2B5EF4-FFF2-40B4-BE49-F238E27FC236}">
                <a16:creationId xmlns:a16="http://schemas.microsoft.com/office/drawing/2014/main" id="{AF919622-62AA-3E8B-0054-237A3BA9B83D}"/>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BDCCF2A5-74E2-47EC-B5B6-38BA3C40B5CE}"/>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16</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F13508A1-53FA-640A-3CA4-57E6AB45DC43}"/>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EA7839A3-F4EB-C599-81CF-9537FFCF7AF7}"/>
              </a:ext>
            </a:extLst>
          </p:cNvPr>
          <p:cNvPicPr>
            <a:picLocks/>
          </p:cNvPicPr>
          <p:nvPr/>
        </p:nvPicPr>
        <p:blipFill>
          <a:blip r:embed="rId3"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25A56B77-8221-C1BF-E1AD-9740D2C72177}"/>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718145B5-441A-B446-E3AB-3E65D9FEDB40}"/>
              </a:ext>
            </a:extLst>
          </p:cNvPr>
          <p:cNvSpPr>
            <a:spLocks noGrp="1"/>
          </p:cNvSpPr>
          <p:nvPr>
            <p:ph type="dt" idx="10"/>
          </p:nvPr>
        </p:nvSpPr>
        <p:spPr/>
        <p:txBody>
          <a:bodyPr/>
          <a:lstStyle/>
          <a:p>
            <a:fld id="{71EF777D-8678-42DE-9A30-F17E525DBB7C}" type="datetime1">
              <a:rPr lang="en-US" smtClean="0"/>
              <a:t>8/31/2026</a:t>
            </a:fld>
            <a:endParaRPr lang="en-US"/>
          </a:p>
        </p:txBody>
      </p:sp>
    </p:spTree>
    <p:extLst>
      <p:ext uri="{BB962C8B-B14F-4D97-AF65-F5344CB8AC3E}">
        <p14:creationId xmlns:p14="http://schemas.microsoft.com/office/powerpoint/2010/main" val="2784990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04D4A910-D215-7900-1965-E772C3EBFC1E}"/>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A7083FC0-35F4-B57D-3925-F6B58DA4863A}"/>
              </a:ext>
            </a:extLst>
          </p:cNvPr>
          <p:cNvSpPr txBox="1">
            <a:spLocks noGrp="1"/>
          </p:cNvSpPr>
          <p:nvPr>
            <p:ph type="title"/>
          </p:nvPr>
        </p:nvSpPr>
        <p:spPr>
          <a:xfrm>
            <a:off x="1257300" y="1064616"/>
            <a:ext cx="9677400" cy="871896"/>
          </a:xfrm>
          <a:prstGeom prst="rect">
            <a:avLst/>
          </a:prstGeom>
          <a:noFill/>
          <a:ln>
            <a:noFill/>
          </a:ln>
        </p:spPr>
        <p:txBody>
          <a:bodyPr spcFirstLastPara="1" wrap="square" lIns="91425" tIns="45700" rIns="91425" bIns="45700" anchor="ctr" anchorCtr="0">
            <a:noAutofit/>
          </a:bodyPr>
          <a:lstStyle/>
          <a:p>
            <a:pPr algn="ctr"/>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228" name="Google Shape;228;p27">
            <a:extLst>
              <a:ext uri="{FF2B5EF4-FFF2-40B4-BE49-F238E27FC236}">
                <a16:creationId xmlns:a16="http://schemas.microsoft.com/office/drawing/2014/main" id="{63A3B19F-07D6-74FB-0BAB-3ABD1D2CA21A}"/>
              </a:ext>
            </a:extLst>
          </p:cNvPr>
          <p:cNvSpPr txBox="1">
            <a:spLocks noGrp="1"/>
          </p:cNvSpPr>
          <p:nvPr>
            <p:ph type="body" idx="1"/>
          </p:nvPr>
        </p:nvSpPr>
        <p:spPr>
          <a:xfrm>
            <a:off x="838200" y="2175082"/>
            <a:ext cx="11049308" cy="4509524"/>
          </a:xfrm>
          <a:prstGeom prst="rect">
            <a:avLst/>
          </a:prstGeom>
          <a:noFill/>
          <a:ln>
            <a:noFill/>
          </a:ln>
        </p:spPr>
        <p:txBody>
          <a:bodyPr spcFirstLastPara="1" wrap="square" lIns="91425" tIns="45700" rIns="91425" bIns="45700" anchor="t" anchorCtr="0">
            <a:noAutofit/>
          </a:bodyPr>
          <a:lstStyle/>
          <a:p>
            <a:pPr indent="-457200"/>
            <a:r>
              <a:rPr lang="en-US" sz="1800" dirty="0">
                <a:solidFill>
                  <a:srgbClr val="1A1A1A"/>
                </a:solidFill>
                <a:latin typeface="Times New Roman"/>
              </a:rPr>
              <a:t>The system successfully demonstrates a complete distributed log analysis pipeline: Module 1 stores raw logs reliably in HDFS, Module 2 processes them in parallel via MapReduce, and Module 3 transforms the aggregated results into actionable visual insights through an interactive </a:t>
            </a:r>
            <a:r>
              <a:rPr lang="en-US" sz="1800" dirty="0" err="1">
                <a:solidFill>
                  <a:srgbClr val="1A1A1A"/>
                </a:solidFill>
                <a:latin typeface="Times New Roman"/>
              </a:rPr>
              <a:t>Streamlit</a:t>
            </a:r>
            <a:r>
              <a:rPr lang="en-US" sz="1800" dirty="0">
                <a:solidFill>
                  <a:srgbClr val="1A1A1A"/>
                </a:solidFill>
                <a:latin typeface="Times New Roman"/>
              </a:rPr>
              <a:t> dashboard</a:t>
            </a:r>
          </a:p>
          <a:p>
            <a:pPr indent="-457200"/>
            <a:r>
              <a:rPr lang="en-US" sz="1800" dirty="0">
                <a:solidFill>
                  <a:srgbClr val="1A1A1A"/>
                </a:solidFill>
                <a:latin typeface="Times New Roman"/>
              </a:rPr>
              <a:t>Scalability is an inherent property of the architecture — the same pipeline code runs unchanged whether deployed on a single-node pseudo-cluster or a full production multi-node Hadoop cluster; adding more </a:t>
            </a:r>
            <a:r>
              <a:rPr lang="en-US" sz="1800" dirty="0" err="1">
                <a:solidFill>
                  <a:srgbClr val="1A1A1A"/>
                </a:solidFill>
                <a:latin typeface="Times New Roman"/>
              </a:rPr>
              <a:t>DataNodes</a:t>
            </a:r>
            <a:r>
              <a:rPr lang="en-US" sz="1800" dirty="0">
                <a:solidFill>
                  <a:srgbClr val="1A1A1A"/>
                </a:solidFill>
                <a:latin typeface="Times New Roman"/>
              </a:rPr>
              <a:t> improves throughput linearly</a:t>
            </a:r>
          </a:p>
          <a:p>
            <a:pPr indent="-457200"/>
            <a:r>
              <a:rPr lang="en-US" sz="1800" dirty="0">
                <a:solidFill>
                  <a:srgbClr val="1A1A1A"/>
                </a:solidFill>
                <a:latin typeface="Times New Roman"/>
              </a:rPr>
              <a:t>Future scope: apply the pipeline to a real-world production dataset (multi-GB Apache/Nginx logs), benchmark MapReduce performance against Apache Spark (RDD vs. disk I/O), and extend to real-time streaming using Apache Kafka and Spark Structured Streaming for live anomaly detection</a:t>
            </a:r>
          </a:p>
        </p:txBody>
      </p:sp>
      <p:sp>
        <p:nvSpPr>
          <p:cNvPr id="231" name="Google Shape;231;p27">
            <a:extLst>
              <a:ext uri="{FF2B5EF4-FFF2-40B4-BE49-F238E27FC236}">
                <a16:creationId xmlns:a16="http://schemas.microsoft.com/office/drawing/2014/main" id="{B873617F-404E-75AB-893D-981637A5E159}"/>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725862F3-598E-3953-E4ED-F6E57275EB73}"/>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17</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B1214CD5-BF2F-B75F-4698-059056171CF0}"/>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EBF4B6A6-28F0-C0FC-AF9C-3C0802729DAE}"/>
              </a:ext>
            </a:extLst>
          </p:cNvPr>
          <p:cNvPicPr>
            <a:picLocks/>
          </p:cNvPicPr>
          <p:nvPr/>
        </p:nvPicPr>
        <p:blipFill>
          <a:blip r:embed="rId3"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90D4CA3C-BF34-EBD7-9BDA-8DAC6EE5A08A}"/>
              </a:ext>
            </a:extLst>
          </p:cNvPr>
          <p:cNvPicPr>
            <a:picLocks/>
          </p:cNvPicPr>
          <p:nvPr/>
        </p:nvPicPr>
        <p:blipFill>
          <a:blip r:embed="rId4"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C23A2397-32D2-9DA4-DAA9-CA4FF069E6A3}"/>
              </a:ext>
            </a:extLst>
          </p:cNvPr>
          <p:cNvSpPr>
            <a:spLocks noGrp="1"/>
          </p:cNvSpPr>
          <p:nvPr>
            <p:ph type="dt" idx="10"/>
          </p:nvPr>
        </p:nvSpPr>
        <p:spPr/>
        <p:txBody>
          <a:bodyPr/>
          <a:lstStyle/>
          <a:p>
            <a:fld id="{71EF777D-8678-42DE-9A30-F17E525DBB7C}" type="datetime1">
              <a:rPr lang="en-US" smtClean="0"/>
              <a:t>8/31/2026</a:t>
            </a:fld>
            <a:endParaRPr lang="en-US"/>
          </a:p>
        </p:txBody>
      </p:sp>
    </p:spTree>
    <p:extLst>
      <p:ext uri="{BB962C8B-B14F-4D97-AF65-F5344CB8AC3E}">
        <p14:creationId xmlns:p14="http://schemas.microsoft.com/office/powerpoint/2010/main" val="1230756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AA0EB278-A410-C79A-7CE4-708B37AE274D}"/>
            </a:ext>
          </a:extLst>
        </p:cNvPr>
        <p:cNvGrpSpPr/>
        <p:nvPr/>
      </p:nvGrpSpPr>
      <p:grpSpPr>
        <a:xfrm>
          <a:off x="0" y="0"/>
          <a:ext cx="0" cy="0"/>
          <a:chOff x="0" y="0"/>
          <a:chExt cx="0" cy="0"/>
        </a:xfrm>
      </p:grpSpPr>
      <p:sp>
        <p:nvSpPr>
          <p:cNvPr id="227" name="Google Shape;227;p27">
            <a:extLst>
              <a:ext uri="{FF2B5EF4-FFF2-40B4-BE49-F238E27FC236}">
                <a16:creationId xmlns:a16="http://schemas.microsoft.com/office/drawing/2014/main" id="{5951E5A7-0A4F-A390-8C3B-A426EC6AD485}"/>
              </a:ext>
            </a:extLst>
          </p:cNvPr>
          <p:cNvSpPr txBox="1">
            <a:spLocks noGrp="1"/>
          </p:cNvSpPr>
          <p:nvPr>
            <p:ph type="title"/>
          </p:nvPr>
        </p:nvSpPr>
        <p:spPr>
          <a:xfrm>
            <a:off x="1257300" y="1064616"/>
            <a:ext cx="9677400" cy="871896"/>
          </a:xfrm>
          <a:prstGeom prst="rect">
            <a:avLst/>
          </a:prstGeom>
          <a:noFill/>
          <a:ln>
            <a:noFill/>
          </a:ln>
        </p:spPr>
        <p:txBody>
          <a:bodyPr spcFirstLastPara="1" wrap="square" lIns="91425" tIns="45700" rIns="91425" bIns="45700" anchor="ctr" anchorCtr="0">
            <a:noAutofit/>
          </a:bodyPr>
          <a:lstStyle/>
          <a:p>
            <a:pPr algn="ctr"/>
            <a:r>
              <a:rPr lang="en-US" sz="3600" b="1" dirty="0">
                <a:latin typeface="Times New Roman" panose="02020603050405020304" pitchFamily="18" charset="0"/>
                <a:cs typeface="Times New Roman" panose="02020603050405020304" pitchFamily="18" charset="0"/>
              </a:rPr>
              <a:t>Reference</a:t>
            </a:r>
            <a:endParaRPr lang="en-IN" sz="3600" b="1" dirty="0">
              <a:latin typeface="Times New Roman" panose="02020603050405020304" pitchFamily="18" charset="0"/>
              <a:cs typeface="Times New Roman" panose="02020603050405020304" pitchFamily="18" charset="0"/>
            </a:endParaRPr>
          </a:p>
        </p:txBody>
      </p:sp>
      <p:sp>
        <p:nvSpPr>
          <p:cNvPr id="228" name="Google Shape;228;p27">
            <a:extLst>
              <a:ext uri="{FF2B5EF4-FFF2-40B4-BE49-F238E27FC236}">
                <a16:creationId xmlns:a16="http://schemas.microsoft.com/office/drawing/2014/main" id="{45CC8943-BA8A-19FC-4545-1ECA240A58F7}"/>
              </a:ext>
            </a:extLst>
          </p:cNvPr>
          <p:cNvSpPr txBox="1">
            <a:spLocks noGrp="1"/>
          </p:cNvSpPr>
          <p:nvPr>
            <p:ph type="body" idx="1"/>
          </p:nvPr>
        </p:nvSpPr>
        <p:spPr>
          <a:xfrm>
            <a:off x="393289" y="1982173"/>
            <a:ext cx="11225981" cy="4351337"/>
          </a:xfrm>
          <a:prstGeom prst="rect">
            <a:avLst/>
          </a:prstGeom>
          <a:noFill/>
          <a:ln>
            <a:noFill/>
          </a:ln>
        </p:spPr>
        <p:txBody>
          <a:bodyPr spcFirstLastPara="1" wrap="square" lIns="91425" tIns="45700" rIns="91425" bIns="45700" anchor="t" anchorCtr="0">
            <a:noAutofit/>
          </a:bodyPr>
          <a:lstStyle/>
          <a:p>
            <a:pPr algn="just"/>
            <a:r>
              <a:rPr lang="en-IN" sz="1800" dirty="0">
                <a:latin typeface="Times New Roman" panose="02020603050405020304" pitchFamily="18" charset="0"/>
                <a:cs typeface="Times New Roman" panose="02020603050405020304" pitchFamily="18" charset="0"/>
              </a:rPr>
              <a:t>Jahnavi, Y., Pavan Kumar Reddy, Y., Sindhura, V.S.K., Tiwari, V. and Srivastava, S., 2023. A novel processing of scalable web log data using Map Reduce framework. In </a:t>
            </a:r>
            <a:r>
              <a:rPr lang="en-IN" sz="1800" i="1" dirty="0">
                <a:latin typeface="Times New Roman" panose="02020603050405020304" pitchFamily="18" charset="0"/>
                <a:cs typeface="Times New Roman" panose="02020603050405020304" pitchFamily="18" charset="0"/>
              </a:rPr>
              <a:t>Computer Vision and Robotics</a:t>
            </a:r>
            <a:r>
              <a:rPr lang="en-IN" sz="1800" dirty="0">
                <a:latin typeface="Times New Roman" panose="02020603050405020304" pitchFamily="18" charset="0"/>
                <a:cs typeface="Times New Roman" panose="02020603050405020304" pitchFamily="18" charset="0"/>
              </a:rPr>
              <a:t>, Algorithms for Intelligent Systems. Springer, Singapore.</a:t>
            </a:r>
          </a:p>
          <a:p>
            <a:pPr algn="just"/>
            <a:r>
              <a:rPr lang="en-IN" sz="1800" dirty="0">
                <a:latin typeface="Times New Roman" panose="02020603050405020304" pitchFamily="18" charset="0"/>
                <a:cs typeface="Times New Roman" panose="02020603050405020304" pitchFamily="18" charset="0"/>
              </a:rPr>
              <a:t>Jahnavi, Y., Pavan Kumar Reddy, Y., Sindhura, V.S.K., Tiwari, V. and Srivastava, S., 2023. A novel processing of scalable web log data using Map Reduce framework. In </a:t>
            </a:r>
            <a:r>
              <a:rPr lang="en-IN" sz="1800" i="1" dirty="0">
                <a:latin typeface="Times New Roman" panose="02020603050405020304" pitchFamily="18" charset="0"/>
                <a:cs typeface="Times New Roman" panose="02020603050405020304" pitchFamily="18" charset="0"/>
              </a:rPr>
              <a:t>Computer Vision and Robotics</a:t>
            </a:r>
            <a:r>
              <a:rPr lang="en-IN" sz="1800" dirty="0">
                <a:latin typeface="Times New Roman" panose="02020603050405020304" pitchFamily="18" charset="0"/>
                <a:cs typeface="Times New Roman" panose="02020603050405020304" pitchFamily="18" charset="0"/>
              </a:rPr>
              <a:t>, Algorithms for Intelligent Systems. Springer, Singapore.</a:t>
            </a:r>
          </a:p>
          <a:p>
            <a:pPr algn="just"/>
            <a:r>
              <a:rPr lang="en-IN" sz="1800" dirty="0">
                <a:latin typeface="Times New Roman" panose="02020603050405020304" pitchFamily="18" charset="0"/>
                <a:cs typeface="Times New Roman" panose="02020603050405020304" pitchFamily="18" charset="0"/>
              </a:rPr>
              <a:t>Simuni, G., 2024. Batch processing with Hadoop MapReduce: a performance and scalability study. </a:t>
            </a:r>
            <a:r>
              <a:rPr lang="en-IN" sz="1800" i="1" dirty="0">
                <a:latin typeface="Times New Roman" panose="02020603050405020304" pitchFamily="18" charset="0"/>
                <a:cs typeface="Times New Roman" panose="02020603050405020304" pitchFamily="18" charset="0"/>
              </a:rPr>
              <a:t>SSRN Electronic Journal</a:t>
            </a:r>
            <a:r>
              <a:rPr lang="en-IN" sz="1800" dirty="0">
                <a:latin typeface="Times New Roman" panose="02020603050405020304" pitchFamily="18" charset="0"/>
                <a:cs typeface="Times New Roman" panose="02020603050405020304" pitchFamily="18" charset="0"/>
              </a:rPr>
              <a:t>. Available at: </a:t>
            </a:r>
            <a:r>
              <a:rPr lang="en-IN" sz="1800" dirty="0">
                <a:latin typeface="Times New Roman" panose="02020603050405020304" pitchFamily="18" charset="0"/>
                <a:cs typeface="Times New Roman" panose="02020603050405020304" pitchFamily="18" charset="0"/>
                <a:hlinkClick r:id="rId3"/>
              </a:rPr>
              <a:t>https://dx.doi.org/10.2139/ssrn.4991394</a:t>
            </a:r>
            <a:r>
              <a:rPr lang="en-IN" sz="1800" dirty="0">
                <a:latin typeface="Times New Roman" panose="02020603050405020304" pitchFamily="18" charset="0"/>
                <a:cs typeface="Times New Roman" panose="02020603050405020304" pitchFamily="18" charset="0"/>
              </a:rPr>
              <a:t>.</a:t>
            </a:r>
          </a:p>
          <a:p>
            <a:pPr algn="just"/>
            <a:r>
              <a:rPr lang="en-IN" sz="1800" dirty="0" err="1">
                <a:latin typeface="Times New Roman" panose="02020603050405020304" pitchFamily="18" charset="0"/>
                <a:cs typeface="Times New Roman" panose="02020603050405020304" pitchFamily="18" charset="0"/>
              </a:rPr>
              <a:t>Bergui</a:t>
            </a:r>
            <a:r>
              <a:rPr lang="en-IN" sz="1800" dirty="0">
                <a:latin typeface="Times New Roman" panose="02020603050405020304" pitchFamily="18" charset="0"/>
                <a:cs typeface="Times New Roman" panose="02020603050405020304" pitchFamily="18" charset="0"/>
              </a:rPr>
              <a:t>, M., Nikolov, N.S. and Najah, S., 2024. Predictive modelling of MapReduce job performance in cloud environments using machine learning techniques. </a:t>
            </a:r>
            <a:r>
              <a:rPr lang="en-IN" sz="1800" i="1" dirty="0">
                <a:latin typeface="Times New Roman" panose="02020603050405020304" pitchFamily="18" charset="0"/>
                <a:cs typeface="Times New Roman" panose="02020603050405020304" pitchFamily="18" charset="0"/>
              </a:rPr>
              <a:t>Journal of Big Data</a:t>
            </a:r>
            <a:r>
              <a:rPr lang="en-IN" sz="1800" dirty="0">
                <a:latin typeface="Times New Roman" panose="02020603050405020304" pitchFamily="18" charset="0"/>
                <a:cs typeface="Times New Roman" panose="02020603050405020304" pitchFamily="18" charset="0"/>
              </a:rPr>
              <a:t>, 11, Article 96.</a:t>
            </a:r>
          </a:p>
          <a:p>
            <a:pPr algn="just"/>
            <a:r>
              <a:rPr lang="en-IN" sz="1800" dirty="0">
                <a:latin typeface="Times New Roman" panose="02020603050405020304" pitchFamily="18" charset="0"/>
                <a:cs typeface="Times New Roman" panose="02020603050405020304" pitchFamily="18" charset="0"/>
              </a:rPr>
              <a:t>Xie, Y., Yang, K. and Luo, P., 2021. Logm: Log analysis for multiple components of hadoop platform.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9</a:t>
            </a:r>
            <a:r>
              <a:rPr lang="en-IN" sz="1800" dirty="0">
                <a:latin typeface="Times New Roman" panose="02020603050405020304" pitchFamily="18" charset="0"/>
                <a:cs typeface="Times New Roman" panose="02020603050405020304" pitchFamily="18" charset="0"/>
              </a:rPr>
              <a:t>, pp.73522-73532.</a:t>
            </a:r>
          </a:p>
          <a:p>
            <a:pPr algn="just"/>
            <a:endParaRPr lang="en-IN" sz="1800" dirty="0">
              <a:latin typeface="Times New Roman" panose="02020603050405020304" pitchFamily="18" charset="0"/>
              <a:cs typeface="Times New Roman" panose="02020603050405020304" pitchFamily="18" charset="0"/>
            </a:endParaRPr>
          </a:p>
          <a:p>
            <a:pPr lvl="0" algn="just"/>
            <a:endParaRPr lang="en-IN" sz="1800" dirty="0">
              <a:latin typeface="Times New Roman" panose="02020603050405020304" pitchFamily="18" charset="0"/>
              <a:cs typeface="Times New Roman" panose="02020603050405020304" pitchFamily="18" charset="0"/>
            </a:endParaRPr>
          </a:p>
        </p:txBody>
      </p:sp>
      <p:sp>
        <p:nvSpPr>
          <p:cNvPr id="231" name="Google Shape;231;p27">
            <a:extLst>
              <a:ext uri="{FF2B5EF4-FFF2-40B4-BE49-F238E27FC236}">
                <a16:creationId xmlns:a16="http://schemas.microsoft.com/office/drawing/2014/main" id="{B7C34B3F-5877-D42A-6376-19C965596E8D}"/>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232" name="Google Shape;232;p27">
            <a:extLst>
              <a:ext uri="{FF2B5EF4-FFF2-40B4-BE49-F238E27FC236}">
                <a16:creationId xmlns:a16="http://schemas.microsoft.com/office/drawing/2014/main" id="{6FC2B23D-58A2-CFA0-1D9B-8AB311752710}"/>
              </a:ext>
            </a:extLst>
          </p:cNvPr>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18</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a:extLst>
              <a:ext uri="{FF2B5EF4-FFF2-40B4-BE49-F238E27FC236}">
                <a16:creationId xmlns:a16="http://schemas.microsoft.com/office/drawing/2014/main" id="{E1A7802F-323E-CA1B-455B-E6C34C713F48}"/>
              </a:ext>
            </a:extLst>
          </p:cNvPr>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 name="Image 3">
            <a:extLst>
              <a:ext uri="{FF2B5EF4-FFF2-40B4-BE49-F238E27FC236}">
                <a16:creationId xmlns:a16="http://schemas.microsoft.com/office/drawing/2014/main" id="{2DB83DFE-607E-4103-4C78-888D8648870D}"/>
              </a:ext>
            </a:extLst>
          </p:cNvPr>
          <p:cNvPicPr>
            <a:picLocks/>
          </p:cNvPicPr>
          <p:nvPr/>
        </p:nvPicPr>
        <p:blipFill>
          <a:blip r:embed="rId4" cstate="print"/>
          <a:stretch>
            <a:fillRect/>
          </a:stretch>
        </p:blipFill>
        <p:spPr>
          <a:xfrm>
            <a:off x="10715625" y="152400"/>
            <a:ext cx="1181100" cy="1110466"/>
          </a:xfrm>
          <a:prstGeom prst="rect">
            <a:avLst/>
          </a:prstGeom>
        </p:spPr>
      </p:pic>
      <p:pic>
        <p:nvPicPr>
          <p:cNvPr id="5" name="Image 6">
            <a:extLst>
              <a:ext uri="{FF2B5EF4-FFF2-40B4-BE49-F238E27FC236}">
                <a16:creationId xmlns:a16="http://schemas.microsoft.com/office/drawing/2014/main" id="{6590C4B0-D8FC-BEFE-3BA3-417C1405124F}"/>
              </a:ext>
            </a:extLst>
          </p:cNvPr>
          <p:cNvPicPr>
            <a:picLocks/>
          </p:cNvPicPr>
          <p:nvPr/>
        </p:nvPicPr>
        <p:blipFill>
          <a:blip r:embed="rId5" cstate="print"/>
          <a:stretch>
            <a:fillRect/>
          </a:stretch>
        </p:blipFill>
        <p:spPr>
          <a:xfrm>
            <a:off x="304800" y="152400"/>
            <a:ext cx="1371600" cy="1156127"/>
          </a:xfrm>
          <a:prstGeom prst="rect">
            <a:avLst/>
          </a:prstGeom>
        </p:spPr>
      </p:pic>
      <p:sp>
        <p:nvSpPr>
          <p:cNvPr id="2" name="Date Placeholder 1">
            <a:extLst>
              <a:ext uri="{FF2B5EF4-FFF2-40B4-BE49-F238E27FC236}">
                <a16:creationId xmlns:a16="http://schemas.microsoft.com/office/drawing/2014/main" id="{E1ABB14F-3B47-9EE6-EAE3-4A4D108D6864}"/>
              </a:ext>
            </a:extLst>
          </p:cNvPr>
          <p:cNvSpPr>
            <a:spLocks noGrp="1"/>
          </p:cNvSpPr>
          <p:nvPr>
            <p:ph type="dt" idx="10"/>
          </p:nvPr>
        </p:nvSpPr>
        <p:spPr/>
        <p:txBody>
          <a:bodyPr/>
          <a:lstStyle/>
          <a:p>
            <a:fld id="{71EF777D-8678-42DE-9A30-F17E525DBB7C}" type="datetime1">
              <a:rPr lang="en-US" smtClean="0"/>
              <a:t>8/31/2026</a:t>
            </a:fld>
            <a:endParaRPr lang="en-US"/>
          </a:p>
        </p:txBody>
      </p:sp>
    </p:spTree>
    <p:extLst>
      <p:ext uri="{BB962C8B-B14F-4D97-AF65-F5344CB8AC3E}">
        <p14:creationId xmlns:p14="http://schemas.microsoft.com/office/powerpoint/2010/main" val="4071871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4"/>
          <p:cNvSpPr txBox="1">
            <a:spLocks noGrp="1"/>
          </p:cNvSpPr>
          <p:nvPr>
            <p:ph type="title"/>
          </p:nvPr>
        </p:nvSpPr>
        <p:spPr>
          <a:xfrm>
            <a:off x="933450" y="2543175"/>
            <a:ext cx="10515600" cy="212566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7200"/>
              <a:buFont typeface="Times New Roman" panose="02020603050405020304"/>
              <a:buNone/>
            </a:pPr>
            <a:r>
              <a:rPr lang="en-US" sz="7200" b="0"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THANK YOU </a:t>
            </a:r>
          </a:p>
        </p:txBody>
      </p:sp>
      <p:pic>
        <p:nvPicPr>
          <p:cNvPr id="298" name="Google Shape;298;p34" descr="C:\Users\ADMIN\AppData\Local\Microsoft\Windows\INetCache\Content.MSO\C29DB0A6.tmp"/>
          <p:cNvPicPr preferRelativeResize="0"/>
          <p:nvPr/>
        </p:nvPicPr>
        <p:blipFill rotWithShape="1">
          <a:blip r:embed="rId3"/>
          <a:srcRect/>
          <a:stretch>
            <a:fillRect/>
          </a:stretch>
        </p:blipFill>
        <p:spPr>
          <a:xfrm>
            <a:off x="3439319" y="136525"/>
            <a:ext cx="5313362" cy="544512"/>
          </a:xfrm>
          <a:prstGeom prst="rect">
            <a:avLst/>
          </a:prstGeom>
          <a:noFill/>
          <a:ln>
            <a:noFill/>
          </a:ln>
        </p:spPr>
      </p:pic>
      <p:sp>
        <p:nvSpPr>
          <p:cNvPr id="300" name="Google Shape;300;p34"/>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panose="020F0502020204030204"/>
              <a:buNone/>
            </a:pPr>
            <a:r>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CAPSTONE PROJECT </a:t>
            </a:r>
          </a:p>
        </p:txBody>
      </p:sp>
      <p:sp>
        <p:nvSpPr>
          <p:cNvPr id="301" name="Google Shape;301;p34"/>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rPr>
              <a:t>19</a:t>
            </a:fld>
            <a:endParaRPr lang="en-US" sz="1200" b="0" i="0" u="none" strike="noStrike" cap="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111" name="Google Shape;111;p15"/>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endParaRPr lang="en-US" sz="1200" b="0" i="0" u="none" strike="noStrike" cap="none" dirty="0">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2" name="Date Placeholder 1">
            <a:extLst>
              <a:ext uri="{FF2B5EF4-FFF2-40B4-BE49-F238E27FC236}">
                <a16:creationId xmlns:a16="http://schemas.microsoft.com/office/drawing/2014/main" id="{45C588E1-C654-DF86-B253-C077D8A3F877}"/>
              </a:ext>
            </a:extLst>
          </p:cNvPr>
          <p:cNvSpPr>
            <a:spLocks noGrp="1"/>
          </p:cNvSpPr>
          <p:nvPr>
            <p:ph type="dt" idx="10"/>
          </p:nvPr>
        </p:nvSpPr>
        <p:spPr/>
        <p:txBody>
          <a:bodyPr/>
          <a:lstStyle/>
          <a:p>
            <a:fld id="{B0C19CA3-92C7-4CD2-9816-45C25F05B919}" type="datetime1">
              <a:rPr lang="en-US" smtClean="0"/>
              <a:t>8/31/2026</a:t>
            </a:fld>
            <a:endParaRPr lang="en-US"/>
          </a:p>
        </p:txBody>
      </p:sp>
      <p:pic>
        <p:nvPicPr>
          <p:cNvPr id="4" name="Image 6">
            <a:extLst>
              <a:ext uri="{FF2B5EF4-FFF2-40B4-BE49-F238E27FC236}">
                <a16:creationId xmlns:a16="http://schemas.microsoft.com/office/drawing/2014/main" id="{2C78ABA5-765F-D718-69EE-A007EA70AC34}"/>
              </a:ext>
            </a:extLst>
          </p:cNvPr>
          <p:cNvPicPr>
            <a:picLocks/>
          </p:cNvPicPr>
          <p:nvPr/>
        </p:nvPicPr>
        <p:blipFill>
          <a:blip r:embed="rId4" cstate="print"/>
          <a:stretch>
            <a:fillRect/>
          </a:stretch>
        </p:blipFill>
        <p:spPr>
          <a:xfrm>
            <a:off x="304800" y="152400"/>
            <a:ext cx="1371600" cy="1156127"/>
          </a:xfrm>
          <a:prstGeom prst="rect">
            <a:avLst/>
          </a:prstGeom>
        </p:spPr>
      </p:pic>
      <p:pic>
        <p:nvPicPr>
          <p:cNvPr id="6" name="Image 3">
            <a:extLst>
              <a:ext uri="{FF2B5EF4-FFF2-40B4-BE49-F238E27FC236}">
                <a16:creationId xmlns:a16="http://schemas.microsoft.com/office/drawing/2014/main" id="{53D9B9E5-FAEB-8364-6024-46813CE70837}"/>
              </a:ext>
            </a:extLst>
          </p:cNvPr>
          <p:cNvPicPr>
            <a:picLocks/>
          </p:cNvPicPr>
          <p:nvPr/>
        </p:nvPicPr>
        <p:blipFill>
          <a:blip r:embed="rId5" cstate="print"/>
          <a:stretch>
            <a:fillRect/>
          </a:stretch>
        </p:blipFill>
        <p:spPr>
          <a:xfrm>
            <a:off x="10715625" y="152400"/>
            <a:ext cx="1181100" cy="111046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60*445"/>
  <p:tag name="TABLE_ENDDRAG_RECT" val="0*95*960*44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1454</TotalTime>
  <Words>1646</Words>
  <Application>Microsoft Office PowerPoint</Application>
  <PresentationFormat>Widescreen</PresentationFormat>
  <Paragraphs>158</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Hadoop-Based Distributed Log Analysis System using MapReduce</vt:lpstr>
      <vt:lpstr>INTRODUCTION </vt:lpstr>
      <vt:lpstr>PROBLEM STATEMENT </vt:lpstr>
      <vt:lpstr>OBJECTIVES</vt:lpstr>
      <vt:lpstr>LITERATURE REVIEW </vt:lpstr>
      <vt:lpstr>PROPOSED METHODOLOGY – ARCHITECTURE DIAGRAM </vt:lpstr>
      <vt:lpstr>PROPOSED METHODOLOGY – ARCHITECTURE DIAGRAM </vt:lpstr>
      <vt:lpstr>PROPOSED METHODOLOGY – ARCHITECTURE DIAGRAM </vt:lpstr>
      <vt:lpstr>PowerPoint Presentation</vt:lpstr>
      <vt:lpstr>Module 1: Log Data Collection &amp; HDFS Storage</vt:lpstr>
      <vt:lpstr>Module 1: Output</vt:lpstr>
      <vt:lpstr>Module 2: MapReduce-Based Log Parsing and Analysis Engine</vt:lpstr>
      <vt:lpstr>Module 2: Output</vt:lpstr>
      <vt:lpstr>Module 3: Result Aggregation &amp; Visualization Dashboard</vt:lpstr>
      <vt:lpstr>Module 3: Dashboard</vt:lpstr>
      <vt:lpstr>Limitations</vt:lpstr>
      <vt:lpstr>Conclusion</vt:lpstr>
      <vt:lpstr>Reference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ashraf asf</cp:lastModifiedBy>
  <cp:revision>66</cp:revision>
  <dcterms:created xsi:type="dcterms:W3CDTF">2026-02-06T13:21:00Z</dcterms:created>
  <dcterms:modified xsi:type="dcterms:W3CDTF">2026-08-31T12:04:18Z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1595084D928D4F8F84B9802CB851073D_13</vt:lpwstr>
  </property>
  <property fmtid="{D5CDD505-2E9C-101B-9397-08002B2CF9AE}" pid="3" name="KSOProductBuildVer">
    <vt:lpwstr>1033-12.2.0.23196</vt:lpwstr>
  </property>
</Properties>
</file>